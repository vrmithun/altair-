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63" r:id="rId4"/>
    <p:sldId id="264" r:id="rId5"/>
    <p:sldId id="265" r:id="rId6"/>
    <p:sldId id="258" r:id="rId7"/>
    <p:sldId id="259" r:id="rId8"/>
    <p:sldId id="260" r:id="rId9"/>
    <p:sldId id="261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75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FA70C-19F0-2BD3-6556-DC5651FD2549}" v="45" dt="2025-09-11T16:05:34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A12077-0248-4CCC-84AF-3DC852A60B3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9727CB-80B5-4E19-829C-60D083ADEAD2}">
      <dgm:prSet/>
      <dgm:spPr/>
      <dgm:t>
        <a:bodyPr/>
        <a:lstStyle/>
        <a:p>
          <a:r>
            <a:rPr lang="en-IN"/>
            <a:t>I took a data set of students which contains student details and their scores in test.</a:t>
          </a:r>
          <a:endParaRPr lang="en-US"/>
        </a:p>
      </dgm:t>
    </dgm:pt>
    <dgm:pt modelId="{2B8BB1C3-B3AB-4347-B1B9-9EF1AD2554AF}" type="parTrans" cxnId="{E027AD28-8BB4-4E50-80E2-C7C54849AA8A}">
      <dgm:prSet/>
      <dgm:spPr/>
      <dgm:t>
        <a:bodyPr/>
        <a:lstStyle/>
        <a:p>
          <a:endParaRPr lang="en-US"/>
        </a:p>
      </dgm:t>
    </dgm:pt>
    <dgm:pt modelId="{1C7759BF-61C8-4FA8-99D2-A5D25490E0EA}" type="sibTrans" cxnId="{E027AD28-8BB4-4E50-80E2-C7C54849AA8A}">
      <dgm:prSet/>
      <dgm:spPr/>
      <dgm:t>
        <a:bodyPr/>
        <a:lstStyle/>
        <a:p>
          <a:endParaRPr lang="en-US"/>
        </a:p>
      </dgm:t>
    </dgm:pt>
    <dgm:pt modelId="{A7C3AAF9-B913-4650-B05E-F628564DD1CA}">
      <dgm:prSet/>
      <dgm:spPr/>
      <dgm:t>
        <a:bodyPr/>
        <a:lstStyle/>
        <a:p>
          <a:r>
            <a:rPr lang="en-SG"/>
            <a:t>The data set contains many factors like family size, time spend studying and etc.</a:t>
          </a:r>
          <a:endParaRPr lang="en-US"/>
        </a:p>
      </dgm:t>
    </dgm:pt>
    <dgm:pt modelId="{4215D6E1-0E16-48A1-BC32-8424F164AA03}" type="parTrans" cxnId="{CDE80C62-FA54-4603-B231-8332F8C2BF12}">
      <dgm:prSet/>
      <dgm:spPr/>
      <dgm:t>
        <a:bodyPr/>
        <a:lstStyle/>
        <a:p>
          <a:endParaRPr lang="en-US"/>
        </a:p>
      </dgm:t>
    </dgm:pt>
    <dgm:pt modelId="{CE9B36F9-3A71-4332-9A10-4EF6535FD831}" type="sibTrans" cxnId="{CDE80C62-FA54-4603-B231-8332F8C2BF12}">
      <dgm:prSet/>
      <dgm:spPr/>
      <dgm:t>
        <a:bodyPr/>
        <a:lstStyle/>
        <a:p>
          <a:endParaRPr lang="en-US"/>
        </a:p>
      </dgm:t>
    </dgm:pt>
    <dgm:pt modelId="{A0B32818-D424-4D93-A48C-B87B69688FD5}">
      <dgm:prSet/>
      <dgm:spPr/>
      <dgm:t>
        <a:bodyPr/>
        <a:lstStyle/>
        <a:p>
          <a:r>
            <a:rPr lang="en-SG"/>
            <a:t>What I done is I analysed those attributes and done a prediction model out of it through various process.</a:t>
          </a:r>
          <a:endParaRPr lang="en-US"/>
        </a:p>
      </dgm:t>
    </dgm:pt>
    <dgm:pt modelId="{C985A784-C359-421D-A655-76E0B49BA99C}" type="parTrans" cxnId="{66BBC947-297F-4579-8B64-5ACB85F4FE95}">
      <dgm:prSet/>
      <dgm:spPr/>
      <dgm:t>
        <a:bodyPr/>
        <a:lstStyle/>
        <a:p>
          <a:endParaRPr lang="en-US"/>
        </a:p>
      </dgm:t>
    </dgm:pt>
    <dgm:pt modelId="{C19F01E4-A19F-4E4B-9FD9-12F9DD4CB42C}" type="sibTrans" cxnId="{66BBC947-297F-4579-8B64-5ACB85F4FE95}">
      <dgm:prSet/>
      <dgm:spPr/>
      <dgm:t>
        <a:bodyPr/>
        <a:lstStyle/>
        <a:p>
          <a:endParaRPr lang="en-US"/>
        </a:p>
      </dgm:t>
    </dgm:pt>
    <dgm:pt modelId="{03D00CE8-7E78-4F83-B095-DBBF208062F3}">
      <dgm:prSet/>
      <dgm:spPr/>
      <dgm:t>
        <a:bodyPr/>
        <a:lstStyle/>
        <a:p>
          <a:r>
            <a:rPr lang="en-SG"/>
            <a:t>In this ppt I take you through the process of making a predictive model for students with their details as input.</a:t>
          </a:r>
          <a:endParaRPr lang="en-US"/>
        </a:p>
      </dgm:t>
    </dgm:pt>
    <dgm:pt modelId="{24FB8F96-F2B0-448B-A11A-0C652B48E808}" type="parTrans" cxnId="{5E88FD22-AB16-4736-B198-98EED83AA2F7}">
      <dgm:prSet/>
      <dgm:spPr/>
      <dgm:t>
        <a:bodyPr/>
        <a:lstStyle/>
        <a:p>
          <a:endParaRPr lang="en-US"/>
        </a:p>
      </dgm:t>
    </dgm:pt>
    <dgm:pt modelId="{60B29B93-9C49-4CBB-8BD9-A94F836CDC43}" type="sibTrans" cxnId="{5E88FD22-AB16-4736-B198-98EED83AA2F7}">
      <dgm:prSet/>
      <dgm:spPr/>
      <dgm:t>
        <a:bodyPr/>
        <a:lstStyle/>
        <a:p>
          <a:endParaRPr lang="en-US"/>
        </a:p>
      </dgm:t>
    </dgm:pt>
    <dgm:pt modelId="{6B5915E6-1F35-49E1-9C5F-781F8C3637FB}" type="pres">
      <dgm:prSet presAssocID="{A6A12077-0248-4CCC-84AF-3DC852A60B3B}" presName="linear" presStyleCnt="0">
        <dgm:presLayoutVars>
          <dgm:animLvl val="lvl"/>
          <dgm:resizeHandles val="exact"/>
        </dgm:presLayoutVars>
      </dgm:prSet>
      <dgm:spPr/>
    </dgm:pt>
    <dgm:pt modelId="{D8C4FCE8-BE97-434E-ADA8-2823CA9F9D8C}" type="pres">
      <dgm:prSet presAssocID="{829727CB-80B5-4E19-829C-60D083ADEA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6446AD-C0F2-4025-88D3-658F38670375}" type="pres">
      <dgm:prSet presAssocID="{1C7759BF-61C8-4FA8-99D2-A5D25490E0EA}" presName="spacer" presStyleCnt="0"/>
      <dgm:spPr/>
    </dgm:pt>
    <dgm:pt modelId="{035CA7F6-0067-443D-957B-D594172C8185}" type="pres">
      <dgm:prSet presAssocID="{A7C3AAF9-B913-4650-B05E-F628564DD1C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098B76C-0BAE-47B3-A630-3F9B812AA19B}" type="pres">
      <dgm:prSet presAssocID="{CE9B36F9-3A71-4332-9A10-4EF6535FD831}" presName="spacer" presStyleCnt="0"/>
      <dgm:spPr/>
    </dgm:pt>
    <dgm:pt modelId="{2DA4AA42-D12A-4A69-96DB-10BCC208173A}" type="pres">
      <dgm:prSet presAssocID="{A0B32818-D424-4D93-A48C-B87B69688F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F609FA8-A3D1-455B-B3C2-EDCD6C9752EA}" type="pres">
      <dgm:prSet presAssocID="{C19F01E4-A19F-4E4B-9FD9-12F9DD4CB42C}" presName="spacer" presStyleCnt="0"/>
      <dgm:spPr/>
    </dgm:pt>
    <dgm:pt modelId="{E76D5067-08E7-4A6C-B29B-509F3C044597}" type="pres">
      <dgm:prSet presAssocID="{03D00CE8-7E78-4F83-B095-DBBF208062F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006717-57F1-4DB6-9D28-E231382495C3}" type="presOf" srcId="{03D00CE8-7E78-4F83-B095-DBBF208062F3}" destId="{E76D5067-08E7-4A6C-B29B-509F3C044597}" srcOrd="0" destOrd="0" presId="urn:microsoft.com/office/officeart/2005/8/layout/vList2"/>
    <dgm:cxn modelId="{5E88FD22-AB16-4736-B198-98EED83AA2F7}" srcId="{A6A12077-0248-4CCC-84AF-3DC852A60B3B}" destId="{03D00CE8-7E78-4F83-B095-DBBF208062F3}" srcOrd="3" destOrd="0" parTransId="{24FB8F96-F2B0-448B-A11A-0C652B48E808}" sibTransId="{60B29B93-9C49-4CBB-8BD9-A94F836CDC43}"/>
    <dgm:cxn modelId="{E027AD28-8BB4-4E50-80E2-C7C54849AA8A}" srcId="{A6A12077-0248-4CCC-84AF-3DC852A60B3B}" destId="{829727CB-80B5-4E19-829C-60D083ADEAD2}" srcOrd="0" destOrd="0" parTransId="{2B8BB1C3-B3AB-4347-B1B9-9EF1AD2554AF}" sibTransId="{1C7759BF-61C8-4FA8-99D2-A5D25490E0EA}"/>
    <dgm:cxn modelId="{CDE80C62-FA54-4603-B231-8332F8C2BF12}" srcId="{A6A12077-0248-4CCC-84AF-3DC852A60B3B}" destId="{A7C3AAF9-B913-4650-B05E-F628564DD1CA}" srcOrd="1" destOrd="0" parTransId="{4215D6E1-0E16-48A1-BC32-8424F164AA03}" sibTransId="{CE9B36F9-3A71-4332-9A10-4EF6535FD831}"/>
    <dgm:cxn modelId="{EBDC8065-40E6-4DDD-921C-62D794CC8FBA}" type="presOf" srcId="{829727CB-80B5-4E19-829C-60D083ADEAD2}" destId="{D8C4FCE8-BE97-434E-ADA8-2823CA9F9D8C}" srcOrd="0" destOrd="0" presId="urn:microsoft.com/office/officeart/2005/8/layout/vList2"/>
    <dgm:cxn modelId="{66BBC947-297F-4579-8B64-5ACB85F4FE95}" srcId="{A6A12077-0248-4CCC-84AF-3DC852A60B3B}" destId="{A0B32818-D424-4D93-A48C-B87B69688FD5}" srcOrd="2" destOrd="0" parTransId="{C985A784-C359-421D-A655-76E0B49BA99C}" sibTransId="{C19F01E4-A19F-4E4B-9FD9-12F9DD4CB42C}"/>
    <dgm:cxn modelId="{EECD234E-DB80-426D-A422-0E762337873D}" type="presOf" srcId="{A7C3AAF9-B913-4650-B05E-F628564DD1CA}" destId="{035CA7F6-0067-443D-957B-D594172C8185}" srcOrd="0" destOrd="0" presId="urn:microsoft.com/office/officeart/2005/8/layout/vList2"/>
    <dgm:cxn modelId="{1C41BF8C-408D-4F2B-8ECD-7D617CE1E606}" type="presOf" srcId="{A6A12077-0248-4CCC-84AF-3DC852A60B3B}" destId="{6B5915E6-1F35-49E1-9C5F-781F8C3637FB}" srcOrd="0" destOrd="0" presId="urn:microsoft.com/office/officeart/2005/8/layout/vList2"/>
    <dgm:cxn modelId="{B71CDFEC-B591-450C-97CD-24D29C965E36}" type="presOf" srcId="{A0B32818-D424-4D93-A48C-B87B69688FD5}" destId="{2DA4AA42-D12A-4A69-96DB-10BCC208173A}" srcOrd="0" destOrd="0" presId="urn:microsoft.com/office/officeart/2005/8/layout/vList2"/>
    <dgm:cxn modelId="{028F4A19-3A02-43F7-AE1C-5AACEF4EEDB3}" type="presParOf" srcId="{6B5915E6-1F35-49E1-9C5F-781F8C3637FB}" destId="{D8C4FCE8-BE97-434E-ADA8-2823CA9F9D8C}" srcOrd="0" destOrd="0" presId="urn:microsoft.com/office/officeart/2005/8/layout/vList2"/>
    <dgm:cxn modelId="{BAD4C699-00AE-444F-A58B-A507EEAEF8AC}" type="presParOf" srcId="{6B5915E6-1F35-49E1-9C5F-781F8C3637FB}" destId="{DF6446AD-C0F2-4025-88D3-658F38670375}" srcOrd="1" destOrd="0" presId="urn:microsoft.com/office/officeart/2005/8/layout/vList2"/>
    <dgm:cxn modelId="{88B07468-4737-4AAE-910B-9E4005F84054}" type="presParOf" srcId="{6B5915E6-1F35-49E1-9C5F-781F8C3637FB}" destId="{035CA7F6-0067-443D-957B-D594172C8185}" srcOrd="2" destOrd="0" presId="urn:microsoft.com/office/officeart/2005/8/layout/vList2"/>
    <dgm:cxn modelId="{177EE54F-B27B-4FF2-BFED-0DF008D4FBC1}" type="presParOf" srcId="{6B5915E6-1F35-49E1-9C5F-781F8C3637FB}" destId="{3098B76C-0BAE-47B3-A630-3F9B812AA19B}" srcOrd="3" destOrd="0" presId="urn:microsoft.com/office/officeart/2005/8/layout/vList2"/>
    <dgm:cxn modelId="{0650227F-626F-40D2-BEA1-6C5C8BE557ED}" type="presParOf" srcId="{6B5915E6-1F35-49E1-9C5F-781F8C3637FB}" destId="{2DA4AA42-D12A-4A69-96DB-10BCC208173A}" srcOrd="4" destOrd="0" presId="urn:microsoft.com/office/officeart/2005/8/layout/vList2"/>
    <dgm:cxn modelId="{85C87E7F-EF91-402D-BA01-22A91206AD64}" type="presParOf" srcId="{6B5915E6-1F35-49E1-9C5F-781F8C3637FB}" destId="{CF609FA8-A3D1-455B-B3C2-EDCD6C9752EA}" srcOrd="5" destOrd="0" presId="urn:microsoft.com/office/officeart/2005/8/layout/vList2"/>
    <dgm:cxn modelId="{552C2BA3-51EE-45FA-A531-C316C5F98E1F}" type="presParOf" srcId="{6B5915E6-1F35-49E1-9C5F-781F8C3637FB}" destId="{E76D5067-08E7-4A6C-B29B-509F3C0445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A9C21B-0331-4246-86F9-4B45137A2B1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4897506-6D91-4BC1-8268-82C5CBB2C54F}">
      <dgm:prSet/>
      <dgm:spPr/>
      <dgm:t>
        <a:bodyPr/>
        <a:lstStyle/>
        <a:p>
          <a:r>
            <a:rPr lang="en-GB" b="1"/>
            <a:t>school</a:t>
          </a:r>
          <a:r>
            <a:rPr lang="en-GB"/>
            <a:t> - student's school (binary: "GP" - Gabriel Pereira or "MS" - Mousinho da Silveira)</a:t>
          </a:r>
          <a:endParaRPr lang="en-US"/>
        </a:p>
      </dgm:t>
    </dgm:pt>
    <dgm:pt modelId="{785C7799-625E-4FB3-B54F-627AB4EE2A37}" type="parTrans" cxnId="{AA524AED-6DAF-4AFB-BD90-0780BD07856C}">
      <dgm:prSet/>
      <dgm:spPr/>
      <dgm:t>
        <a:bodyPr/>
        <a:lstStyle/>
        <a:p>
          <a:endParaRPr lang="en-US"/>
        </a:p>
      </dgm:t>
    </dgm:pt>
    <dgm:pt modelId="{6F4EC004-2E08-4878-8CCC-01EC6858FECF}" type="sibTrans" cxnId="{AA524AED-6DAF-4AFB-BD90-0780BD07856C}">
      <dgm:prSet/>
      <dgm:spPr/>
      <dgm:t>
        <a:bodyPr/>
        <a:lstStyle/>
        <a:p>
          <a:endParaRPr lang="en-US"/>
        </a:p>
      </dgm:t>
    </dgm:pt>
    <dgm:pt modelId="{B4A9B728-6775-414B-98EB-B06569B84DE4}">
      <dgm:prSet/>
      <dgm:spPr/>
      <dgm:t>
        <a:bodyPr/>
        <a:lstStyle/>
        <a:p>
          <a:r>
            <a:rPr lang="en-GB" b="1"/>
            <a:t>sex</a:t>
          </a:r>
          <a:r>
            <a:rPr lang="en-GB"/>
            <a:t> - student's sex (binary: "F" - female or "M" - male)</a:t>
          </a:r>
          <a:endParaRPr lang="en-US"/>
        </a:p>
      </dgm:t>
    </dgm:pt>
    <dgm:pt modelId="{82800584-1295-46DB-A394-1AEFFAC63C03}" type="parTrans" cxnId="{FE75A9A1-EA90-4D0F-8345-5A69C4168CDA}">
      <dgm:prSet/>
      <dgm:spPr/>
      <dgm:t>
        <a:bodyPr/>
        <a:lstStyle/>
        <a:p>
          <a:endParaRPr lang="en-US"/>
        </a:p>
      </dgm:t>
    </dgm:pt>
    <dgm:pt modelId="{984CC2B8-6B54-4DAF-AFBB-9993FE1FE468}" type="sibTrans" cxnId="{FE75A9A1-EA90-4D0F-8345-5A69C4168CDA}">
      <dgm:prSet/>
      <dgm:spPr/>
      <dgm:t>
        <a:bodyPr/>
        <a:lstStyle/>
        <a:p>
          <a:endParaRPr lang="en-US"/>
        </a:p>
      </dgm:t>
    </dgm:pt>
    <dgm:pt modelId="{5BB561DE-7DFB-48EE-BE25-167268F098F8}">
      <dgm:prSet/>
      <dgm:spPr/>
      <dgm:t>
        <a:bodyPr/>
        <a:lstStyle/>
        <a:p>
          <a:r>
            <a:rPr lang="en-GB" b="1"/>
            <a:t>age</a:t>
          </a:r>
          <a:r>
            <a:rPr lang="en-GB"/>
            <a:t> - student's age (numeric: from 15 to 22)</a:t>
          </a:r>
          <a:endParaRPr lang="en-US"/>
        </a:p>
      </dgm:t>
    </dgm:pt>
    <dgm:pt modelId="{98A62322-B6C3-4358-AC6E-5FB8E8508290}" type="parTrans" cxnId="{48F34713-8869-43B2-B35B-A5C845EB7938}">
      <dgm:prSet/>
      <dgm:spPr/>
      <dgm:t>
        <a:bodyPr/>
        <a:lstStyle/>
        <a:p>
          <a:endParaRPr lang="en-US"/>
        </a:p>
      </dgm:t>
    </dgm:pt>
    <dgm:pt modelId="{38CF1A90-0EA1-49B6-AAC5-99AA9134A793}" type="sibTrans" cxnId="{48F34713-8869-43B2-B35B-A5C845EB7938}">
      <dgm:prSet/>
      <dgm:spPr/>
      <dgm:t>
        <a:bodyPr/>
        <a:lstStyle/>
        <a:p>
          <a:endParaRPr lang="en-US"/>
        </a:p>
      </dgm:t>
    </dgm:pt>
    <dgm:pt modelId="{DC52CBE8-D359-46FA-BF63-48D780DF7803}">
      <dgm:prSet/>
      <dgm:spPr/>
      <dgm:t>
        <a:bodyPr/>
        <a:lstStyle/>
        <a:p>
          <a:r>
            <a:rPr lang="en-GB" b="1"/>
            <a:t>address</a:t>
          </a:r>
          <a:r>
            <a:rPr lang="en-GB"/>
            <a:t> - student's home address type (binary: "U" - urban or "R" - rural)</a:t>
          </a:r>
          <a:endParaRPr lang="en-US"/>
        </a:p>
      </dgm:t>
    </dgm:pt>
    <dgm:pt modelId="{9F64D97D-634B-41B3-AE84-1554437A35B6}" type="parTrans" cxnId="{C1176E6B-6E98-4E54-A0B5-50E8553E9898}">
      <dgm:prSet/>
      <dgm:spPr/>
      <dgm:t>
        <a:bodyPr/>
        <a:lstStyle/>
        <a:p>
          <a:endParaRPr lang="en-US"/>
        </a:p>
      </dgm:t>
    </dgm:pt>
    <dgm:pt modelId="{683B68DC-12FC-4FF6-BE8A-8CE50685688F}" type="sibTrans" cxnId="{C1176E6B-6E98-4E54-A0B5-50E8553E9898}">
      <dgm:prSet/>
      <dgm:spPr/>
      <dgm:t>
        <a:bodyPr/>
        <a:lstStyle/>
        <a:p>
          <a:endParaRPr lang="en-US"/>
        </a:p>
      </dgm:t>
    </dgm:pt>
    <dgm:pt modelId="{CB3B4FD7-7798-463B-9AD2-3FF6929A625A}">
      <dgm:prSet/>
      <dgm:spPr/>
      <dgm:t>
        <a:bodyPr/>
        <a:lstStyle/>
        <a:p>
          <a:r>
            <a:rPr lang="en-GB" b="1"/>
            <a:t>famsize</a:t>
          </a:r>
          <a:r>
            <a:rPr lang="en-GB"/>
            <a:t> - family size (binary: "LE3" - less or equal to 3 or "GT3" - greater than 3)</a:t>
          </a:r>
          <a:endParaRPr lang="en-US"/>
        </a:p>
      </dgm:t>
    </dgm:pt>
    <dgm:pt modelId="{CF60EBB1-21EC-479B-904B-7A8E106D00E5}" type="parTrans" cxnId="{DDAEC67F-77D4-4F5B-BCCD-78E73EC41EA5}">
      <dgm:prSet/>
      <dgm:spPr/>
      <dgm:t>
        <a:bodyPr/>
        <a:lstStyle/>
        <a:p>
          <a:endParaRPr lang="en-US"/>
        </a:p>
      </dgm:t>
    </dgm:pt>
    <dgm:pt modelId="{455C401B-EA59-465F-9088-6FCD7114A571}" type="sibTrans" cxnId="{DDAEC67F-77D4-4F5B-BCCD-78E73EC41EA5}">
      <dgm:prSet/>
      <dgm:spPr/>
      <dgm:t>
        <a:bodyPr/>
        <a:lstStyle/>
        <a:p>
          <a:endParaRPr lang="en-US"/>
        </a:p>
      </dgm:t>
    </dgm:pt>
    <dgm:pt modelId="{F0037119-38D4-43B6-8063-A02534C5A64E}">
      <dgm:prSet/>
      <dgm:spPr/>
      <dgm:t>
        <a:bodyPr/>
        <a:lstStyle/>
        <a:p>
          <a:r>
            <a:rPr lang="en-GB" b="1"/>
            <a:t>Pstatus</a:t>
          </a:r>
          <a:r>
            <a:rPr lang="en-GB"/>
            <a:t> - parent's cohabitation status (binary: "T" - living together or "A" - apart)</a:t>
          </a:r>
          <a:endParaRPr lang="en-US"/>
        </a:p>
      </dgm:t>
    </dgm:pt>
    <dgm:pt modelId="{234C4C3A-9954-4F2E-B76B-B2FB047892B8}" type="parTrans" cxnId="{9FCDA04F-3578-4883-8742-54FDAA9509B1}">
      <dgm:prSet/>
      <dgm:spPr/>
      <dgm:t>
        <a:bodyPr/>
        <a:lstStyle/>
        <a:p>
          <a:endParaRPr lang="en-US"/>
        </a:p>
      </dgm:t>
    </dgm:pt>
    <dgm:pt modelId="{5D968638-F805-4736-916A-22D2A531FB52}" type="sibTrans" cxnId="{9FCDA04F-3578-4883-8742-54FDAA9509B1}">
      <dgm:prSet/>
      <dgm:spPr/>
      <dgm:t>
        <a:bodyPr/>
        <a:lstStyle/>
        <a:p>
          <a:endParaRPr lang="en-US"/>
        </a:p>
      </dgm:t>
    </dgm:pt>
    <dgm:pt modelId="{5D2979D8-9F04-4547-AF21-A94608EA6C80}">
      <dgm:prSet/>
      <dgm:spPr/>
      <dgm:t>
        <a:bodyPr/>
        <a:lstStyle/>
        <a:p>
          <a:r>
            <a:rPr lang="en-GB" b="1"/>
            <a:t>Medu</a:t>
          </a:r>
          <a:r>
            <a:rPr lang="en-GB"/>
            <a:t> - mother's education (numeric: 0 - none,  1 - primary education (4th grade), 2 – 5th to 9th grade, 3 – secondary education or 4 – higher education)</a:t>
          </a:r>
          <a:endParaRPr lang="en-US"/>
        </a:p>
      </dgm:t>
    </dgm:pt>
    <dgm:pt modelId="{1D25A1DE-0569-485C-A0C1-1719C539E2BE}" type="parTrans" cxnId="{646C0AAC-3CB8-4833-B48A-2031C83C0A6A}">
      <dgm:prSet/>
      <dgm:spPr/>
      <dgm:t>
        <a:bodyPr/>
        <a:lstStyle/>
        <a:p>
          <a:endParaRPr lang="en-US"/>
        </a:p>
      </dgm:t>
    </dgm:pt>
    <dgm:pt modelId="{1BB5A98B-B23A-4154-B0E8-6DBF9336CF14}" type="sibTrans" cxnId="{646C0AAC-3CB8-4833-B48A-2031C83C0A6A}">
      <dgm:prSet/>
      <dgm:spPr/>
      <dgm:t>
        <a:bodyPr/>
        <a:lstStyle/>
        <a:p>
          <a:endParaRPr lang="en-US"/>
        </a:p>
      </dgm:t>
    </dgm:pt>
    <dgm:pt modelId="{88E00E2A-8559-42A1-B46D-509F4B8648A8}">
      <dgm:prSet/>
      <dgm:spPr/>
      <dgm:t>
        <a:bodyPr/>
        <a:lstStyle/>
        <a:p>
          <a:r>
            <a:rPr lang="en-GB" b="1"/>
            <a:t>Fedu</a:t>
          </a:r>
          <a:r>
            <a:rPr lang="en-GB"/>
            <a:t> - father's education (numeric: 0 - none,  1 - primary education (4th grade), 2 – 5th to 9th grade, 3 – secondary education or 4 – higher education)</a:t>
          </a:r>
          <a:endParaRPr lang="en-US"/>
        </a:p>
      </dgm:t>
    </dgm:pt>
    <dgm:pt modelId="{C99919B7-A25C-48FA-8E0E-A22D13AD5FC2}" type="parTrans" cxnId="{B5211323-FF8E-42F4-9D6C-5356516074ED}">
      <dgm:prSet/>
      <dgm:spPr/>
      <dgm:t>
        <a:bodyPr/>
        <a:lstStyle/>
        <a:p>
          <a:endParaRPr lang="en-US"/>
        </a:p>
      </dgm:t>
    </dgm:pt>
    <dgm:pt modelId="{E514BC8C-447D-4401-A1BD-A6BC6349C966}" type="sibTrans" cxnId="{B5211323-FF8E-42F4-9D6C-5356516074ED}">
      <dgm:prSet/>
      <dgm:spPr/>
      <dgm:t>
        <a:bodyPr/>
        <a:lstStyle/>
        <a:p>
          <a:endParaRPr lang="en-US"/>
        </a:p>
      </dgm:t>
    </dgm:pt>
    <dgm:pt modelId="{2A5B2E45-65DB-4574-A0CD-D81E04190FFA}">
      <dgm:prSet/>
      <dgm:spPr/>
      <dgm:t>
        <a:bodyPr/>
        <a:lstStyle/>
        <a:p>
          <a:r>
            <a:rPr lang="en-GB" b="1"/>
            <a:t>Mjob</a:t>
          </a:r>
          <a:r>
            <a:rPr lang="en-GB"/>
            <a:t> - mother's job (nominal: "teacher", "health" care related, civil "services" (e.g. administrative or police), "at_home" or "other")</a:t>
          </a:r>
          <a:endParaRPr lang="en-US"/>
        </a:p>
      </dgm:t>
    </dgm:pt>
    <dgm:pt modelId="{6E6C8ECB-AB64-4F29-86E9-4594C3C9B468}" type="parTrans" cxnId="{7AF1BCF6-A33B-489D-9C9D-94036E2BBC60}">
      <dgm:prSet/>
      <dgm:spPr/>
      <dgm:t>
        <a:bodyPr/>
        <a:lstStyle/>
        <a:p>
          <a:endParaRPr lang="en-US"/>
        </a:p>
      </dgm:t>
    </dgm:pt>
    <dgm:pt modelId="{37FBC3AD-1643-4227-931E-D1E53A0B8C3E}" type="sibTrans" cxnId="{7AF1BCF6-A33B-489D-9C9D-94036E2BBC60}">
      <dgm:prSet/>
      <dgm:spPr/>
      <dgm:t>
        <a:bodyPr/>
        <a:lstStyle/>
        <a:p>
          <a:endParaRPr lang="en-US"/>
        </a:p>
      </dgm:t>
    </dgm:pt>
    <dgm:pt modelId="{3452C972-F499-423C-A0F8-679BAEAE270B}">
      <dgm:prSet/>
      <dgm:spPr/>
      <dgm:t>
        <a:bodyPr/>
        <a:lstStyle/>
        <a:p>
          <a:r>
            <a:rPr lang="en-GB" b="1"/>
            <a:t>Fjob</a:t>
          </a:r>
          <a:r>
            <a:rPr lang="en-GB"/>
            <a:t> - father's job (nominal: "teacher", "health" care related, civil "services" (e.g. administrative or police), "at_home" or "other")</a:t>
          </a:r>
          <a:endParaRPr lang="en-US"/>
        </a:p>
      </dgm:t>
    </dgm:pt>
    <dgm:pt modelId="{C92C09B8-CD54-46F6-91FE-9DBBDB678FA5}" type="parTrans" cxnId="{104932C1-78C9-4D0F-A122-73A7E0657F62}">
      <dgm:prSet/>
      <dgm:spPr/>
      <dgm:t>
        <a:bodyPr/>
        <a:lstStyle/>
        <a:p>
          <a:endParaRPr lang="en-US"/>
        </a:p>
      </dgm:t>
    </dgm:pt>
    <dgm:pt modelId="{720EA632-166D-4060-832A-C88384109862}" type="sibTrans" cxnId="{104932C1-78C9-4D0F-A122-73A7E0657F62}">
      <dgm:prSet/>
      <dgm:spPr/>
      <dgm:t>
        <a:bodyPr/>
        <a:lstStyle/>
        <a:p>
          <a:endParaRPr lang="en-US"/>
        </a:p>
      </dgm:t>
    </dgm:pt>
    <dgm:pt modelId="{E22980F5-FD40-44BD-92CD-728CE0B2F410}" type="pres">
      <dgm:prSet presAssocID="{DAA9C21B-0331-4246-86F9-4B45137A2B1E}" presName="diagram" presStyleCnt="0">
        <dgm:presLayoutVars>
          <dgm:dir/>
          <dgm:resizeHandles val="exact"/>
        </dgm:presLayoutVars>
      </dgm:prSet>
      <dgm:spPr/>
    </dgm:pt>
    <dgm:pt modelId="{40978240-BA2B-475E-ACAE-712E02887B59}" type="pres">
      <dgm:prSet presAssocID="{C4897506-6D91-4BC1-8268-82C5CBB2C54F}" presName="node" presStyleLbl="node1" presStyleIdx="0" presStyleCnt="10">
        <dgm:presLayoutVars>
          <dgm:bulletEnabled val="1"/>
        </dgm:presLayoutVars>
      </dgm:prSet>
      <dgm:spPr/>
    </dgm:pt>
    <dgm:pt modelId="{1CCDFA16-6003-4637-ACEE-6FF0BD863DA7}" type="pres">
      <dgm:prSet presAssocID="{6F4EC004-2E08-4878-8CCC-01EC6858FECF}" presName="sibTrans" presStyleCnt="0"/>
      <dgm:spPr/>
    </dgm:pt>
    <dgm:pt modelId="{CAB49C69-6F2F-47B2-B43A-3CD2F47C025C}" type="pres">
      <dgm:prSet presAssocID="{B4A9B728-6775-414B-98EB-B06569B84DE4}" presName="node" presStyleLbl="node1" presStyleIdx="1" presStyleCnt="10">
        <dgm:presLayoutVars>
          <dgm:bulletEnabled val="1"/>
        </dgm:presLayoutVars>
      </dgm:prSet>
      <dgm:spPr/>
    </dgm:pt>
    <dgm:pt modelId="{6779E17E-BB14-4064-8E57-950A1EAD8AA0}" type="pres">
      <dgm:prSet presAssocID="{984CC2B8-6B54-4DAF-AFBB-9993FE1FE468}" presName="sibTrans" presStyleCnt="0"/>
      <dgm:spPr/>
    </dgm:pt>
    <dgm:pt modelId="{1CD98F6A-F209-4FD9-802E-A27CDA3F996B}" type="pres">
      <dgm:prSet presAssocID="{5BB561DE-7DFB-48EE-BE25-167268F098F8}" presName="node" presStyleLbl="node1" presStyleIdx="2" presStyleCnt="10">
        <dgm:presLayoutVars>
          <dgm:bulletEnabled val="1"/>
        </dgm:presLayoutVars>
      </dgm:prSet>
      <dgm:spPr/>
    </dgm:pt>
    <dgm:pt modelId="{F8499D55-EE2A-43B1-A4C5-EBDBB6F050D6}" type="pres">
      <dgm:prSet presAssocID="{38CF1A90-0EA1-49B6-AAC5-99AA9134A793}" presName="sibTrans" presStyleCnt="0"/>
      <dgm:spPr/>
    </dgm:pt>
    <dgm:pt modelId="{D39EA746-A44E-40BA-BDDB-84887A557EE2}" type="pres">
      <dgm:prSet presAssocID="{DC52CBE8-D359-46FA-BF63-48D780DF7803}" presName="node" presStyleLbl="node1" presStyleIdx="3" presStyleCnt="10">
        <dgm:presLayoutVars>
          <dgm:bulletEnabled val="1"/>
        </dgm:presLayoutVars>
      </dgm:prSet>
      <dgm:spPr/>
    </dgm:pt>
    <dgm:pt modelId="{A0A0FBAE-DED1-419B-89AB-08F5B3AFAF61}" type="pres">
      <dgm:prSet presAssocID="{683B68DC-12FC-4FF6-BE8A-8CE50685688F}" presName="sibTrans" presStyleCnt="0"/>
      <dgm:spPr/>
    </dgm:pt>
    <dgm:pt modelId="{3F42069C-583B-471B-AB50-CA4E63B9060D}" type="pres">
      <dgm:prSet presAssocID="{CB3B4FD7-7798-463B-9AD2-3FF6929A625A}" presName="node" presStyleLbl="node1" presStyleIdx="4" presStyleCnt="10">
        <dgm:presLayoutVars>
          <dgm:bulletEnabled val="1"/>
        </dgm:presLayoutVars>
      </dgm:prSet>
      <dgm:spPr/>
    </dgm:pt>
    <dgm:pt modelId="{F22C7FB2-03B4-4050-ADF5-E432ECF2702A}" type="pres">
      <dgm:prSet presAssocID="{455C401B-EA59-465F-9088-6FCD7114A571}" presName="sibTrans" presStyleCnt="0"/>
      <dgm:spPr/>
    </dgm:pt>
    <dgm:pt modelId="{8EFFD868-F2A2-406D-AB3E-F9EADA8386C7}" type="pres">
      <dgm:prSet presAssocID="{F0037119-38D4-43B6-8063-A02534C5A64E}" presName="node" presStyleLbl="node1" presStyleIdx="5" presStyleCnt="10">
        <dgm:presLayoutVars>
          <dgm:bulletEnabled val="1"/>
        </dgm:presLayoutVars>
      </dgm:prSet>
      <dgm:spPr/>
    </dgm:pt>
    <dgm:pt modelId="{39CF4CCB-71AC-4E7C-BF17-F85AD1D61559}" type="pres">
      <dgm:prSet presAssocID="{5D968638-F805-4736-916A-22D2A531FB52}" presName="sibTrans" presStyleCnt="0"/>
      <dgm:spPr/>
    </dgm:pt>
    <dgm:pt modelId="{0C49582E-7CCE-4E45-87A6-F7FE23E17C36}" type="pres">
      <dgm:prSet presAssocID="{5D2979D8-9F04-4547-AF21-A94608EA6C80}" presName="node" presStyleLbl="node1" presStyleIdx="6" presStyleCnt="10">
        <dgm:presLayoutVars>
          <dgm:bulletEnabled val="1"/>
        </dgm:presLayoutVars>
      </dgm:prSet>
      <dgm:spPr/>
    </dgm:pt>
    <dgm:pt modelId="{CCA3ED33-AE2F-492C-A4D7-4545165B89D3}" type="pres">
      <dgm:prSet presAssocID="{1BB5A98B-B23A-4154-B0E8-6DBF9336CF14}" presName="sibTrans" presStyleCnt="0"/>
      <dgm:spPr/>
    </dgm:pt>
    <dgm:pt modelId="{80AA26E0-A77B-44BC-B7C5-C3F236A7D0EE}" type="pres">
      <dgm:prSet presAssocID="{88E00E2A-8559-42A1-B46D-509F4B8648A8}" presName="node" presStyleLbl="node1" presStyleIdx="7" presStyleCnt="10">
        <dgm:presLayoutVars>
          <dgm:bulletEnabled val="1"/>
        </dgm:presLayoutVars>
      </dgm:prSet>
      <dgm:spPr/>
    </dgm:pt>
    <dgm:pt modelId="{8D69EC34-F56F-494D-9133-1576953202C1}" type="pres">
      <dgm:prSet presAssocID="{E514BC8C-447D-4401-A1BD-A6BC6349C966}" presName="sibTrans" presStyleCnt="0"/>
      <dgm:spPr/>
    </dgm:pt>
    <dgm:pt modelId="{A5150350-DB3D-451A-88E8-8CCEE3819E54}" type="pres">
      <dgm:prSet presAssocID="{2A5B2E45-65DB-4574-A0CD-D81E04190FFA}" presName="node" presStyleLbl="node1" presStyleIdx="8" presStyleCnt="10">
        <dgm:presLayoutVars>
          <dgm:bulletEnabled val="1"/>
        </dgm:presLayoutVars>
      </dgm:prSet>
      <dgm:spPr/>
    </dgm:pt>
    <dgm:pt modelId="{D8F1037D-AA7B-4ADE-93BE-323AE169C9FB}" type="pres">
      <dgm:prSet presAssocID="{37FBC3AD-1643-4227-931E-D1E53A0B8C3E}" presName="sibTrans" presStyleCnt="0"/>
      <dgm:spPr/>
    </dgm:pt>
    <dgm:pt modelId="{F10951BD-6759-41AA-8708-447C932BCA19}" type="pres">
      <dgm:prSet presAssocID="{3452C972-F499-423C-A0F8-679BAEAE270B}" presName="node" presStyleLbl="node1" presStyleIdx="9" presStyleCnt="10">
        <dgm:presLayoutVars>
          <dgm:bulletEnabled val="1"/>
        </dgm:presLayoutVars>
      </dgm:prSet>
      <dgm:spPr/>
    </dgm:pt>
  </dgm:ptLst>
  <dgm:cxnLst>
    <dgm:cxn modelId="{48F34713-8869-43B2-B35B-A5C845EB7938}" srcId="{DAA9C21B-0331-4246-86F9-4B45137A2B1E}" destId="{5BB561DE-7DFB-48EE-BE25-167268F098F8}" srcOrd="2" destOrd="0" parTransId="{98A62322-B6C3-4358-AC6E-5FB8E8508290}" sibTransId="{38CF1A90-0EA1-49B6-AAC5-99AA9134A793}"/>
    <dgm:cxn modelId="{4DC91215-1977-4018-9782-7DADC7231B71}" type="presOf" srcId="{2A5B2E45-65DB-4574-A0CD-D81E04190FFA}" destId="{A5150350-DB3D-451A-88E8-8CCEE3819E54}" srcOrd="0" destOrd="0" presId="urn:microsoft.com/office/officeart/2005/8/layout/default"/>
    <dgm:cxn modelId="{B5211323-FF8E-42F4-9D6C-5356516074ED}" srcId="{DAA9C21B-0331-4246-86F9-4B45137A2B1E}" destId="{88E00E2A-8559-42A1-B46D-509F4B8648A8}" srcOrd="7" destOrd="0" parTransId="{C99919B7-A25C-48FA-8E0E-A22D13AD5FC2}" sibTransId="{E514BC8C-447D-4401-A1BD-A6BC6349C966}"/>
    <dgm:cxn modelId="{F08FD75D-74D2-48BF-BFE0-54637BCB8479}" type="presOf" srcId="{5D2979D8-9F04-4547-AF21-A94608EA6C80}" destId="{0C49582E-7CCE-4E45-87A6-F7FE23E17C36}" srcOrd="0" destOrd="0" presId="urn:microsoft.com/office/officeart/2005/8/layout/default"/>
    <dgm:cxn modelId="{C1176E6B-6E98-4E54-A0B5-50E8553E9898}" srcId="{DAA9C21B-0331-4246-86F9-4B45137A2B1E}" destId="{DC52CBE8-D359-46FA-BF63-48D780DF7803}" srcOrd="3" destOrd="0" parTransId="{9F64D97D-634B-41B3-AE84-1554437A35B6}" sibTransId="{683B68DC-12FC-4FF6-BE8A-8CE50685688F}"/>
    <dgm:cxn modelId="{9FCDA04F-3578-4883-8742-54FDAA9509B1}" srcId="{DAA9C21B-0331-4246-86F9-4B45137A2B1E}" destId="{F0037119-38D4-43B6-8063-A02534C5A64E}" srcOrd="5" destOrd="0" parTransId="{234C4C3A-9954-4F2E-B76B-B2FB047892B8}" sibTransId="{5D968638-F805-4736-916A-22D2A531FB52}"/>
    <dgm:cxn modelId="{368FBD70-6810-488D-9285-07D4743D2A79}" type="presOf" srcId="{DAA9C21B-0331-4246-86F9-4B45137A2B1E}" destId="{E22980F5-FD40-44BD-92CD-728CE0B2F410}" srcOrd="0" destOrd="0" presId="urn:microsoft.com/office/officeart/2005/8/layout/default"/>
    <dgm:cxn modelId="{110EA855-4E79-4766-9D42-C4B1950B60B8}" type="presOf" srcId="{C4897506-6D91-4BC1-8268-82C5CBB2C54F}" destId="{40978240-BA2B-475E-ACAE-712E02887B59}" srcOrd="0" destOrd="0" presId="urn:microsoft.com/office/officeart/2005/8/layout/default"/>
    <dgm:cxn modelId="{F327737D-73E4-4ADD-B33D-70535E5A21F0}" type="presOf" srcId="{88E00E2A-8559-42A1-B46D-509F4B8648A8}" destId="{80AA26E0-A77B-44BC-B7C5-C3F236A7D0EE}" srcOrd="0" destOrd="0" presId="urn:microsoft.com/office/officeart/2005/8/layout/default"/>
    <dgm:cxn modelId="{DDAEC67F-77D4-4F5B-BCCD-78E73EC41EA5}" srcId="{DAA9C21B-0331-4246-86F9-4B45137A2B1E}" destId="{CB3B4FD7-7798-463B-9AD2-3FF6929A625A}" srcOrd="4" destOrd="0" parTransId="{CF60EBB1-21EC-479B-904B-7A8E106D00E5}" sibTransId="{455C401B-EA59-465F-9088-6FCD7114A571}"/>
    <dgm:cxn modelId="{7F010181-6CE8-4EBC-918D-18FF5C8E5895}" type="presOf" srcId="{3452C972-F499-423C-A0F8-679BAEAE270B}" destId="{F10951BD-6759-41AA-8708-447C932BCA19}" srcOrd="0" destOrd="0" presId="urn:microsoft.com/office/officeart/2005/8/layout/default"/>
    <dgm:cxn modelId="{95628F92-5E19-419F-A558-9ADA725F35AB}" type="presOf" srcId="{B4A9B728-6775-414B-98EB-B06569B84DE4}" destId="{CAB49C69-6F2F-47B2-B43A-3CD2F47C025C}" srcOrd="0" destOrd="0" presId="urn:microsoft.com/office/officeart/2005/8/layout/default"/>
    <dgm:cxn modelId="{4769A996-6B1B-4876-A424-B3AFA4A0D656}" type="presOf" srcId="{CB3B4FD7-7798-463B-9AD2-3FF6929A625A}" destId="{3F42069C-583B-471B-AB50-CA4E63B9060D}" srcOrd="0" destOrd="0" presId="urn:microsoft.com/office/officeart/2005/8/layout/default"/>
    <dgm:cxn modelId="{FE75A9A1-EA90-4D0F-8345-5A69C4168CDA}" srcId="{DAA9C21B-0331-4246-86F9-4B45137A2B1E}" destId="{B4A9B728-6775-414B-98EB-B06569B84DE4}" srcOrd="1" destOrd="0" parTransId="{82800584-1295-46DB-A394-1AEFFAC63C03}" sibTransId="{984CC2B8-6B54-4DAF-AFBB-9993FE1FE468}"/>
    <dgm:cxn modelId="{646C0AAC-3CB8-4833-B48A-2031C83C0A6A}" srcId="{DAA9C21B-0331-4246-86F9-4B45137A2B1E}" destId="{5D2979D8-9F04-4547-AF21-A94608EA6C80}" srcOrd="6" destOrd="0" parTransId="{1D25A1DE-0569-485C-A0C1-1719C539E2BE}" sibTransId="{1BB5A98B-B23A-4154-B0E8-6DBF9336CF14}"/>
    <dgm:cxn modelId="{6BB973AF-1989-4A88-8D75-ED753DEB9474}" type="presOf" srcId="{5BB561DE-7DFB-48EE-BE25-167268F098F8}" destId="{1CD98F6A-F209-4FD9-802E-A27CDA3F996B}" srcOrd="0" destOrd="0" presId="urn:microsoft.com/office/officeart/2005/8/layout/default"/>
    <dgm:cxn modelId="{1338FEB7-466F-49ED-9190-50CBEFE577E9}" type="presOf" srcId="{F0037119-38D4-43B6-8063-A02534C5A64E}" destId="{8EFFD868-F2A2-406D-AB3E-F9EADA8386C7}" srcOrd="0" destOrd="0" presId="urn:microsoft.com/office/officeart/2005/8/layout/default"/>
    <dgm:cxn modelId="{104932C1-78C9-4D0F-A122-73A7E0657F62}" srcId="{DAA9C21B-0331-4246-86F9-4B45137A2B1E}" destId="{3452C972-F499-423C-A0F8-679BAEAE270B}" srcOrd="9" destOrd="0" parTransId="{C92C09B8-CD54-46F6-91FE-9DBBDB678FA5}" sibTransId="{720EA632-166D-4060-832A-C88384109862}"/>
    <dgm:cxn modelId="{60D658DA-3415-48C8-8D04-979C8C4B103B}" type="presOf" srcId="{DC52CBE8-D359-46FA-BF63-48D780DF7803}" destId="{D39EA746-A44E-40BA-BDDB-84887A557EE2}" srcOrd="0" destOrd="0" presId="urn:microsoft.com/office/officeart/2005/8/layout/default"/>
    <dgm:cxn modelId="{AA524AED-6DAF-4AFB-BD90-0780BD07856C}" srcId="{DAA9C21B-0331-4246-86F9-4B45137A2B1E}" destId="{C4897506-6D91-4BC1-8268-82C5CBB2C54F}" srcOrd="0" destOrd="0" parTransId="{785C7799-625E-4FB3-B54F-627AB4EE2A37}" sibTransId="{6F4EC004-2E08-4878-8CCC-01EC6858FECF}"/>
    <dgm:cxn modelId="{7AF1BCF6-A33B-489D-9C9D-94036E2BBC60}" srcId="{DAA9C21B-0331-4246-86F9-4B45137A2B1E}" destId="{2A5B2E45-65DB-4574-A0CD-D81E04190FFA}" srcOrd="8" destOrd="0" parTransId="{6E6C8ECB-AB64-4F29-86E9-4594C3C9B468}" sibTransId="{37FBC3AD-1643-4227-931E-D1E53A0B8C3E}"/>
    <dgm:cxn modelId="{46A3B82B-8FE6-4DDD-844D-396FF755C6DE}" type="presParOf" srcId="{E22980F5-FD40-44BD-92CD-728CE0B2F410}" destId="{40978240-BA2B-475E-ACAE-712E02887B59}" srcOrd="0" destOrd="0" presId="urn:microsoft.com/office/officeart/2005/8/layout/default"/>
    <dgm:cxn modelId="{145928AD-CFA9-4F7A-A3DA-C5CB51E7C58C}" type="presParOf" srcId="{E22980F5-FD40-44BD-92CD-728CE0B2F410}" destId="{1CCDFA16-6003-4637-ACEE-6FF0BD863DA7}" srcOrd="1" destOrd="0" presId="urn:microsoft.com/office/officeart/2005/8/layout/default"/>
    <dgm:cxn modelId="{2A4C2AC0-BA2F-4F69-A615-815968AD31B3}" type="presParOf" srcId="{E22980F5-FD40-44BD-92CD-728CE0B2F410}" destId="{CAB49C69-6F2F-47B2-B43A-3CD2F47C025C}" srcOrd="2" destOrd="0" presId="urn:microsoft.com/office/officeart/2005/8/layout/default"/>
    <dgm:cxn modelId="{47169C2D-62F2-4048-B577-FDD4E3F5B995}" type="presParOf" srcId="{E22980F5-FD40-44BD-92CD-728CE0B2F410}" destId="{6779E17E-BB14-4064-8E57-950A1EAD8AA0}" srcOrd="3" destOrd="0" presId="urn:microsoft.com/office/officeart/2005/8/layout/default"/>
    <dgm:cxn modelId="{6F648F77-FDA6-459E-91C8-ADAE1D60E0D8}" type="presParOf" srcId="{E22980F5-FD40-44BD-92CD-728CE0B2F410}" destId="{1CD98F6A-F209-4FD9-802E-A27CDA3F996B}" srcOrd="4" destOrd="0" presId="urn:microsoft.com/office/officeart/2005/8/layout/default"/>
    <dgm:cxn modelId="{0A33AA0B-FD94-4AD8-9306-3C643D4C3814}" type="presParOf" srcId="{E22980F5-FD40-44BD-92CD-728CE0B2F410}" destId="{F8499D55-EE2A-43B1-A4C5-EBDBB6F050D6}" srcOrd="5" destOrd="0" presId="urn:microsoft.com/office/officeart/2005/8/layout/default"/>
    <dgm:cxn modelId="{E5C8C4C3-B110-4695-9581-45618F47FE17}" type="presParOf" srcId="{E22980F5-FD40-44BD-92CD-728CE0B2F410}" destId="{D39EA746-A44E-40BA-BDDB-84887A557EE2}" srcOrd="6" destOrd="0" presId="urn:microsoft.com/office/officeart/2005/8/layout/default"/>
    <dgm:cxn modelId="{74CAF5CC-1AA5-4E5A-912E-19C124A062E4}" type="presParOf" srcId="{E22980F5-FD40-44BD-92CD-728CE0B2F410}" destId="{A0A0FBAE-DED1-419B-89AB-08F5B3AFAF61}" srcOrd="7" destOrd="0" presId="urn:microsoft.com/office/officeart/2005/8/layout/default"/>
    <dgm:cxn modelId="{1F851A41-DCCC-4520-8B3D-0B504FE28F7E}" type="presParOf" srcId="{E22980F5-FD40-44BD-92CD-728CE0B2F410}" destId="{3F42069C-583B-471B-AB50-CA4E63B9060D}" srcOrd="8" destOrd="0" presId="urn:microsoft.com/office/officeart/2005/8/layout/default"/>
    <dgm:cxn modelId="{C43F8799-BD57-4CFC-95AF-93565A5F069B}" type="presParOf" srcId="{E22980F5-FD40-44BD-92CD-728CE0B2F410}" destId="{F22C7FB2-03B4-4050-ADF5-E432ECF2702A}" srcOrd="9" destOrd="0" presId="urn:microsoft.com/office/officeart/2005/8/layout/default"/>
    <dgm:cxn modelId="{38BE1E00-38B2-443D-8A5F-45A164488623}" type="presParOf" srcId="{E22980F5-FD40-44BD-92CD-728CE0B2F410}" destId="{8EFFD868-F2A2-406D-AB3E-F9EADA8386C7}" srcOrd="10" destOrd="0" presId="urn:microsoft.com/office/officeart/2005/8/layout/default"/>
    <dgm:cxn modelId="{95ACC994-E146-4242-82E5-71C527F3BF9B}" type="presParOf" srcId="{E22980F5-FD40-44BD-92CD-728CE0B2F410}" destId="{39CF4CCB-71AC-4E7C-BF17-F85AD1D61559}" srcOrd="11" destOrd="0" presId="urn:microsoft.com/office/officeart/2005/8/layout/default"/>
    <dgm:cxn modelId="{CEA34457-4EB2-4821-AEC9-617DC1DDA478}" type="presParOf" srcId="{E22980F5-FD40-44BD-92CD-728CE0B2F410}" destId="{0C49582E-7CCE-4E45-87A6-F7FE23E17C36}" srcOrd="12" destOrd="0" presId="urn:microsoft.com/office/officeart/2005/8/layout/default"/>
    <dgm:cxn modelId="{7CFF6F86-146C-444B-B98E-BDE6CB18F6BA}" type="presParOf" srcId="{E22980F5-FD40-44BD-92CD-728CE0B2F410}" destId="{CCA3ED33-AE2F-492C-A4D7-4545165B89D3}" srcOrd="13" destOrd="0" presId="urn:microsoft.com/office/officeart/2005/8/layout/default"/>
    <dgm:cxn modelId="{E2B0D877-2879-43B0-9E8F-A03DB96096C1}" type="presParOf" srcId="{E22980F5-FD40-44BD-92CD-728CE0B2F410}" destId="{80AA26E0-A77B-44BC-B7C5-C3F236A7D0EE}" srcOrd="14" destOrd="0" presId="urn:microsoft.com/office/officeart/2005/8/layout/default"/>
    <dgm:cxn modelId="{E60F645C-18AD-44DB-A74E-C654360B87E4}" type="presParOf" srcId="{E22980F5-FD40-44BD-92CD-728CE0B2F410}" destId="{8D69EC34-F56F-494D-9133-1576953202C1}" srcOrd="15" destOrd="0" presId="urn:microsoft.com/office/officeart/2005/8/layout/default"/>
    <dgm:cxn modelId="{6BB39B21-9503-4E4B-9B2B-3456CCF3C992}" type="presParOf" srcId="{E22980F5-FD40-44BD-92CD-728CE0B2F410}" destId="{A5150350-DB3D-451A-88E8-8CCEE3819E54}" srcOrd="16" destOrd="0" presId="urn:microsoft.com/office/officeart/2005/8/layout/default"/>
    <dgm:cxn modelId="{8C3550E0-CC15-438B-857F-C30651BA66DB}" type="presParOf" srcId="{E22980F5-FD40-44BD-92CD-728CE0B2F410}" destId="{D8F1037D-AA7B-4ADE-93BE-323AE169C9FB}" srcOrd="17" destOrd="0" presId="urn:microsoft.com/office/officeart/2005/8/layout/default"/>
    <dgm:cxn modelId="{860DA912-8DBB-4346-BD61-CCA46187AB22}" type="presParOf" srcId="{E22980F5-FD40-44BD-92CD-728CE0B2F410}" destId="{F10951BD-6759-41AA-8708-447C932BCA19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CE2E47-0998-4F91-B5AC-13666F7CC63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64A5B51-C349-44AF-82E3-8DC613A0F84B}">
      <dgm:prSet/>
      <dgm:spPr/>
      <dgm:t>
        <a:bodyPr/>
        <a:lstStyle/>
        <a:p>
          <a:r>
            <a:rPr lang="en-GB" b="1"/>
            <a:t>reason</a:t>
          </a:r>
          <a:r>
            <a:rPr lang="en-GB"/>
            <a:t> - reason to choose this school (nominal: close to "home", school "reputation", "course" preference or "other")</a:t>
          </a:r>
          <a:endParaRPr lang="en-US"/>
        </a:p>
      </dgm:t>
    </dgm:pt>
    <dgm:pt modelId="{EBDD29EB-BE1B-4D7E-9F05-86B3ADB5E12A}" type="parTrans" cxnId="{42423941-112D-44F0-9F43-3594BFAE7AEB}">
      <dgm:prSet/>
      <dgm:spPr/>
      <dgm:t>
        <a:bodyPr/>
        <a:lstStyle/>
        <a:p>
          <a:endParaRPr lang="en-US"/>
        </a:p>
      </dgm:t>
    </dgm:pt>
    <dgm:pt modelId="{D4D661C0-B39B-471C-A708-DC5E0B2CBCBA}" type="sibTrans" cxnId="{42423941-112D-44F0-9F43-3594BFAE7AEB}">
      <dgm:prSet/>
      <dgm:spPr/>
      <dgm:t>
        <a:bodyPr/>
        <a:lstStyle/>
        <a:p>
          <a:endParaRPr lang="en-US"/>
        </a:p>
      </dgm:t>
    </dgm:pt>
    <dgm:pt modelId="{089D6AEF-D8B7-4579-B075-90810518B5BC}">
      <dgm:prSet/>
      <dgm:spPr/>
      <dgm:t>
        <a:bodyPr/>
        <a:lstStyle/>
        <a:p>
          <a:r>
            <a:rPr lang="en-GB" b="1"/>
            <a:t>guardian</a:t>
          </a:r>
          <a:r>
            <a:rPr lang="en-GB"/>
            <a:t> - student's guardian (nominal: "mother", "father" or "other")</a:t>
          </a:r>
          <a:endParaRPr lang="en-US"/>
        </a:p>
      </dgm:t>
    </dgm:pt>
    <dgm:pt modelId="{BFC9CCCA-712D-4348-8C71-049B9C310AB1}" type="parTrans" cxnId="{39FE40CB-D1A3-4C43-BC56-869F9C167EB7}">
      <dgm:prSet/>
      <dgm:spPr/>
      <dgm:t>
        <a:bodyPr/>
        <a:lstStyle/>
        <a:p>
          <a:endParaRPr lang="en-US"/>
        </a:p>
      </dgm:t>
    </dgm:pt>
    <dgm:pt modelId="{497575AA-45B3-4FA6-9BF7-0A1933252EDE}" type="sibTrans" cxnId="{39FE40CB-D1A3-4C43-BC56-869F9C167EB7}">
      <dgm:prSet/>
      <dgm:spPr/>
      <dgm:t>
        <a:bodyPr/>
        <a:lstStyle/>
        <a:p>
          <a:endParaRPr lang="en-US"/>
        </a:p>
      </dgm:t>
    </dgm:pt>
    <dgm:pt modelId="{878E691F-72B8-493F-AD47-DD781FDDD40A}">
      <dgm:prSet/>
      <dgm:spPr/>
      <dgm:t>
        <a:bodyPr/>
        <a:lstStyle/>
        <a:p>
          <a:r>
            <a:rPr lang="en-GB" b="1"/>
            <a:t>traveltime</a:t>
          </a:r>
          <a:r>
            <a:rPr lang="en-GB"/>
            <a:t> - home to school travel time (numeric: 1 - &lt;15 min., 2 - 15 to 30 min., 3 - 30 min. to 1 hour, or 4 - &gt;1 hour)</a:t>
          </a:r>
          <a:endParaRPr lang="en-US"/>
        </a:p>
      </dgm:t>
    </dgm:pt>
    <dgm:pt modelId="{C7043DE1-6F6D-44B1-9E5F-E37FD0B39625}" type="parTrans" cxnId="{FD77DA56-619C-4116-9110-026982A35E9F}">
      <dgm:prSet/>
      <dgm:spPr/>
      <dgm:t>
        <a:bodyPr/>
        <a:lstStyle/>
        <a:p>
          <a:endParaRPr lang="en-US"/>
        </a:p>
      </dgm:t>
    </dgm:pt>
    <dgm:pt modelId="{49F71418-849D-480B-A89F-62251AE42423}" type="sibTrans" cxnId="{FD77DA56-619C-4116-9110-026982A35E9F}">
      <dgm:prSet/>
      <dgm:spPr/>
      <dgm:t>
        <a:bodyPr/>
        <a:lstStyle/>
        <a:p>
          <a:endParaRPr lang="en-US"/>
        </a:p>
      </dgm:t>
    </dgm:pt>
    <dgm:pt modelId="{BB057D26-927C-4939-8B91-C3B6BF2B9B39}">
      <dgm:prSet/>
      <dgm:spPr/>
      <dgm:t>
        <a:bodyPr/>
        <a:lstStyle/>
        <a:p>
          <a:r>
            <a:rPr lang="en-GB" b="1"/>
            <a:t>studytime</a:t>
          </a:r>
          <a:r>
            <a:rPr lang="en-GB"/>
            <a:t> - weekly study time (numeric: 1 - &lt;2 hours, 2 - 2 to 5 hours, 3 - 5 to 10 hours, or 4 - &gt;10 hours)</a:t>
          </a:r>
          <a:endParaRPr lang="en-US"/>
        </a:p>
      </dgm:t>
    </dgm:pt>
    <dgm:pt modelId="{05AB51FE-CEBB-4CAF-9464-B0BF12F174B0}" type="parTrans" cxnId="{3802B63A-35A6-4850-9768-DDC0447C13DB}">
      <dgm:prSet/>
      <dgm:spPr/>
      <dgm:t>
        <a:bodyPr/>
        <a:lstStyle/>
        <a:p>
          <a:endParaRPr lang="en-US"/>
        </a:p>
      </dgm:t>
    </dgm:pt>
    <dgm:pt modelId="{1C19F354-82DB-42A9-AF98-6898C4392C36}" type="sibTrans" cxnId="{3802B63A-35A6-4850-9768-DDC0447C13DB}">
      <dgm:prSet/>
      <dgm:spPr/>
      <dgm:t>
        <a:bodyPr/>
        <a:lstStyle/>
        <a:p>
          <a:endParaRPr lang="en-US"/>
        </a:p>
      </dgm:t>
    </dgm:pt>
    <dgm:pt modelId="{56AAAC49-51D8-4B2C-8985-0B72093ABC1E}">
      <dgm:prSet/>
      <dgm:spPr/>
      <dgm:t>
        <a:bodyPr/>
        <a:lstStyle/>
        <a:p>
          <a:r>
            <a:rPr lang="en-GB" b="1"/>
            <a:t>failures</a:t>
          </a:r>
          <a:r>
            <a:rPr lang="en-GB"/>
            <a:t> - number of past class failures (numeric: n if 1&lt;=n&lt;3, else 4)</a:t>
          </a:r>
          <a:endParaRPr lang="en-US"/>
        </a:p>
      </dgm:t>
    </dgm:pt>
    <dgm:pt modelId="{3EF55B2A-FC7A-4866-BC1A-A843C4454963}" type="parTrans" cxnId="{A5DD3E78-6789-421E-BF37-4591572BD479}">
      <dgm:prSet/>
      <dgm:spPr/>
      <dgm:t>
        <a:bodyPr/>
        <a:lstStyle/>
        <a:p>
          <a:endParaRPr lang="en-US"/>
        </a:p>
      </dgm:t>
    </dgm:pt>
    <dgm:pt modelId="{F2C6EC65-39A7-4EF7-9294-40C1BE5DDF96}" type="sibTrans" cxnId="{A5DD3E78-6789-421E-BF37-4591572BD479}">
      <dgm:prSet/>
      <dgm:spPr/>
      <dgm:t>
        <a:bodyPr/>
        <a:lstStyle/>
        <a:p>
          <a:endParaRPr lang="en-US"/>
        </a:p>
      </dgm:t>
    </dgm:pt>
    <dgm:pt modelId="{6CF2D04A-83DE-4610-9A3F-CB1B87788A16}">
      <dgm:prSet/>
      <dgm:spPr/>
      <dgm:t>
        <a:bodyPr/>
        <a:lstStyle/>
        <a:p>
          <a:r>
            <a:rPr lang="en-GB" b="1"/>
            <a:t>schoolsup</a:t>
          </a:r>
          <a:r>
            <a:rPr lang="en-GB"/>
            <a:t> - extra educational support (binary: yes or no)</a:t>
          </a:r>
          <a:endParaRPr lang="en-US"/>
        </a:p>
      </dgm:t>
    </dgm:pt>
    <dgm:pt modelId="{F27AA21A-47F5-4B23-9346-A119B154F501}" type="parTrans" cxnId="{D87989FE-5F04-4918-8332-1F93124117F8}">
      <dgm:prSet/>
      <dgm:spPr/>
      <dgm:t>
        <a:bodyPr/>
        <a:lstStyle/>
        <a:p>
          <a:endParaRPr lang="en-US"/>
        </a:p>
      </dgm:t>
    </dgm:pt>
    <dgm:pt modelId="{8B515E8C-8873-4FCE-AE83-DFA0C150A212}" type="sibTrans" cxnId="{D87989FE-5F04-4918-8332-1F93124117F8}">
      <dgm:prSet/>
      <dgm:spPr/>
      <dgm:t>
        <a:bodyPr/>
        <a:lstStyle/>
        <a:p>
          <a:endParaRPr lang="en-US"/>
        </a:p>
      </dgm:t>
    </dgm:pt>
    <dgm:pt modelId="{A60F5293-53FD-488A-826D-6DD242A253C1}">
      <dgm:prSet/>
      <dgm:spPr/>
      <dgm:t>
        <a:bodyPr/>
        <a:lstStyle/>
        <a:p>
          <a:r>
            <a:rPr lang="en-GB" b="1"/>
            <a:t>famsup</a:t>
          </a:r>
          <a:r>
            <a:rPr lang="en-GB"/>
            <a:t> - family educational support (binary: yes or no)</a:t>
          </a:r>
          <a:endParaRPr lang="en-US"/>
        </a:p>
      </dgm:t>
    </dgm:pt>
    <dgm:pt modelId="{91B7A500-7D47-4533-9A1F-968139120C8E}" type="parTrans" cxnId="{92C1B02A-8D94-4F0F-A8AF-0FBE68B605B9}">
      <dgm:prSet/>
      <dgm:spPr/>
      <dgm:t>
        <a:bodyPr/>
        <a:lstStyle/>
        <a:p>
          <a:endParaRPr lang="en-US"/>
        </a:p>
      </dgm:t>
    </dgm:pt>
    <dgm:pt modelId="{6CA9D576-82C3-477B-954F-A8F297609D12}" type="sibTrans" cxnId="{92C1B02A-8D94-4F0F-A8AF-0FBE68B605B9}">
      <dgm:prSet/>
      <dgm:spPr/>
      <dgm:t>
        <a:bodyPr/>
        <a:lstStyle/>
        <a:p>
          <a:endParaRPr lang="en-US"/>
        </a:p>
      </dgm:t>
    </dgm:pt>
    <dgm:pt modelId="{2CB778B7-9367-4129-AB00-D25C42F44D51}">
      <dgm:prSet/>
      <dgm:spPr/>
      <dgm:t>
        <a:bodyPr/>
        <a:lstStyle/>
        <a:p>
          <a:r>
            <a:rPr lang="en-GB" b="1"/>
            <a:t>paid</a:t>
          </a:r>
          <a:r>
            <a:rPr lang="en-GB"/>
            <a:t> - extra paid classes within the course subject (Math or Portuguese) (binary: yes or no)</a:t>
          </a:r>
          <a:endParaRPr lang="en-US"/>
        </a:p>
      </dgm:t>
    </dgm:pt>
    <dgm:pt modelId="{397A0909-AFC9-41BC-9552-05CB96F54FAE}" type="parTrans" cxnId="{43FF629A-9535-462B-A12F-3F7A1ABEFF52}">
      <dgm:prSet/>
      <dgm:spPr/>
      <dgm:t>
        <a:bodyPr/>
        <a:lstStyle/>
        <a:p>
          <a:endParaRPr lang="en-US"/>
        </a:p>
      </dgm:t>
    </dgm:pt>
    <dgm:pt modelId="{8F134896-1FEC-423A-B4AB-3641C6799128}" type="sibTrans" cxnId="{43FF629A-9535-462B-A12F-3F7A1ABEFF52}">
      <dgm:prSet/>
      <dgm:spPr/>
      <dgm:t>
        <a:bodyPr/>
        <a:lstStyle/>
        <a:p>
          <a:endParaRPr lang="en-US"/>
        </a:p>
      </dgm:t>
    </dgm:pt>
    <dgm:pt modelId="{28BCFBF7-473B-4755-A191-CBBFFD3F1934}">
      <dgm:prSet/>
      <dgm:spPr/>
      <dgm:t>
        <a:bodyPr/>
        <a:lstStyle/>
        <a:p>
          <a:r>
            <a:rPr lang="en-GB" b="1"/>
            <a:t>activities</a:t>
          </a:r>
          <a:r>
            <a:rPr lang="en-GB"/>
            <a:t> - extra-curricular activities (binary: yes or no)</a:t>
          </a:r>
          <a:endParaRPr lang="en-US"/>
        </a:p>
      </dgm:t>
    </dgm:pt>
    <dgm:pt modelId="{363D50D6-66EF-407C-A644-2F92AC0E541D}" type="parTrans" cxnId="{C65D876B-6358-4D86-996F-D9FEC481845B}">
      <dgm:prSet/>
      <dgm:spPr/>
      <dgm:t>
        <a:bodyPr/>
        <a:lstStyle/>
        <a:p>
          <a:endParaRPr lang="en-US"/>
        </a:p>
      </dgm:t>
    </dgm:pt>
    <dgm:pt modelId="{D1E8A094-C568-4EE1-81ED-CE874B3471BF}" type="sibTrans" cxnId="{C65D876B-6358-4D86-996F-D9FEC481845B}">
      <dgm:prSet/>
      <dgm:spPr/>
      <dgm:t>
        <a:bodyPr/>
        <a:lstStyle/>
        <a:p>
          <a:endParaRPr lang="en-US"/>
        </a:p>
      </dgm:t>
    </dgm:pt>
    <dgm:pt modelId="{C4E4B8FD-03CD-4C1E-BD5B-AEFF8BB3FE44}">
      <dgm:prSet/>
      <dgm:spPr/>
      <dgm:t>
        <a:bodyPr/>
        <a:lstStyle/>
        <a:p>
          <a:r>
            <a:rPr lang="en-GB" b="1"/>
            <a:t>nursery</a:t>
          </a:r>
          <a:r>
            <a:rPr lang="en-GB"/>
            <a:t> - attended nursery school (binary: yes or no)</a:t>
          </a:r>
          <a:endParaRPr lang="en-US"/>
        </a:p>
      </dgm:t>
    </dgm:pt>
    <dgm:pt modelId="{932CBD9C-E871-4CDC-830D-B6AE28BD7E7E}" type="parTrans" cxnId="{ADC58D6B-B419-437E-B819-A68BE67E7687}">
      <dgm:prSet/>
      <dgm:spPr/>
      <dgm:t>
        <a:bodyPr/>
        <a:lstStyle/>
        <a:p>
          <a:endParaRPr lang="en-US"/>
        </a:p>
      </dgm:t>
    </dgm:pt>
    <dgm:pt modelId="{1FB18248-0957-4210-AEF9-1B84C063F9F3}" type="sibTrans" cxnId="{ADC58D6B-B419-437E-B819-A68BE67E7687}">
      <dgm:prSet/>
      <dgm:spPr/>
      <dgm:t>
        <a:bodyPr/>
        <a:lstStyle/>
        <a:p>
          <a:endParaRPr lang="en-US"/>
        </a:p>
      </dgm:t>
    </dgm:pt>
    <dgm:pt modelId="{8EADE108-0A1B-45CC-A633-FD5679913E0C}" type="pres">
      <dgm:prSet presAssocID="{7ECE2E47-0998-4F91-B5AC-13666F7CC635}" presName="diagram" presStyleCnt="0">
        <dgm:presLayoutVars>
          <dgm:dir/>
          <dgm:resizeHandles val="exact"/>
        </dgm:presLayoutVars>
      </dgm:prSet>
      <dgm:spPr/>
    </dgm:pt>
    <dgm:pt modelId="{8C2FEE37-6E12-4FF5-ADC6-CC6A2DDF40BA}" type="pres">
      <dgm:prSet presAssocID="{264A5B51-C349-44AF-82E3-8DC613A0F84B}" presName="node" presStyleLbl="node1" presStyleIdx="0" presStyleCnt="10">
        <dgm:presLayoutVars>
          <dgm:bulletEnabled val="1"/>
        </dgm:presLayoutVars>
      </dgm:prSet>
      <dgm:spPr/>
    </dgm:pt>
    <dgm:pt modelId="{5D5C79BC-8CD8-4ECE-8802-4AEC6655C916}" type="pres">
      <dgm:prSet presAssocID="{D4D661C0-B39B-471C-A708-DC5E0B2CBCBA}" presName="sibTrans" presStyleCnt="0"/>
      <dgm:spPr/>
    </dgm:pt>
    <dgm:pt modelId="{E49DD094-A0C1-422A-91CE-70B9BB939941}" type="pres">
      <dgm:prSet presAssocID="{089D6AEF-D8B7-4579-B075-90810518B5BC}" presName="node" presStyleLbl="node1" presStyleIdx="1" presStyleCnt="10">
        <dgm:presLayoutVars>
          <dgm:bulletEnabled val="1"/>
        </dgm:presLayoutVars>
      </dgm:prSet>
      <dgm:spPr/>
    </dgm:pt>
    <dgm:pt modelId="{A337DE71-E5F6-4E9D-A798-E150A72673E5}" type="pres">
      <dgm:prSet presAssocID="{497575AA-45B3-4FA6-9BF7-0A1933252EDE}" presName="sibTrans" presStyleCnt="0"/>
      <dgm:spPr/>
    </dgm:pt>
    <dgm:pt modelId="{28F45425-AD49-4ED9-92CA-DE011F59EFA2}" type="pres">
      <dgm:prSet presAssocID="{878E691F-72B8-493F-AD47-DD781FDDD40A}" presName="node" presStyleLbl="node1" presStyleIdx="2" presStyleCnt="10">
        <dgm:presLayoutVars>
          <dgm:bulletEnabled val="1"/>
        </dgm:presLayoutVars>
      </dgm:prSet>
      <dgm:spPr/>
    </dgm:pt>
    <dgm:pt modelId="{E8F984D8-4024-48C2-A4FA-FD99E1D0613B}" type="pres">
      <dgm:prSet presAssocID="{49F71418-849D-480B-A89F-62251AE42423}" presName="sibTrans" presStyleCnt="0"/>
      <dgm:spPr/>
    </dgm:pt>
    <dgm:pt modelId="{4337001F-11D1-4B40-A44F-B5E5B8F0A51F}" type="pres">
      <dgm:prSet presAssocID="{BB057D26-927C-4939-8B91-C3B6BF2B9B39}" presName="node" presStyleLbl="node1" presStyleIdx="3" presStyleCnt="10">
        <dgm:presLayoutVars>
          <dgm:bulletEnabled val="1"/>
        </dgm:presLayoutVars>
      </dgm:prSet>
      <dgm:spPr/>
    </dgm:pt>
    <dgm:pt modelId="{04C88CA1-5377-45B5-8386-F8AE495C0C4B}" type="pres">
      <dgm:prSet presAssocID="{1C19F354-82DB-42A9-AF98-6898C4392C36}" presName="sibTrans" presStyleCnt="0"/>
      <dgm:spPr/>
    </dgm:pt>
    <dgm:pt modelId="{0C88F74C-D85E-4476-BF62-4DEDEA711DB8}" type="pres">
      <dgm:prSet presAssocID="{56AAAC49-51D8-4B2C-8985-0B72093ABC1E}" presName="node" presStyleLbl="node1" presStyleIdx="4" presStyleCnt="10">
        <dgm:presLayoutVars>
          <dgm:bulletEnabled val="1"/>
        </dgm:presLayoutVars>
      </dgm:prSet>
      <dgm:spPr/>
    </dgm:pt>
    <dgm:pt modelId="{1F663A56-EC5D-4BEB-8800-CCC844F08BF6}" type="pres">
      <dgm:prSet presAssocID="{F2C6EC65-39A7-4EF7-9294-40C1BE5DDF96}" presName="sibTrans" presStyleCnt="0"/>
      <dgm:spPr/>
    </dgm:pt>
    <dgm:pt modelId="{5EAD0849-A968-4CF9-97A6-3654F1ED4C82}" type="pres">
      <dgm:prSet presAssocID="{6CF2D04A-83DE-4610-9A3F-CB1B87788A16}" presName="node" presStyleLbl="node1" presStyleIdx="5" presStyleCnt="10">
        <dgm:presLayoutVars>
          <dgm:bulletEnabled val="1"/>
        </dgm:presLayoutVars>
      </dgm:prSet>
      <dgm:spPr/>
    </dgm:pt>
    <dgm:pt modelId="{ED1AD6D9-BF2B-4A5F-9E12-C9E4A64004F3}" type="pres">
      <dgm:prSet presAssocID="{8B515E8C-8873-4FCE-AE83-DFA0C150A212}" presName="sibTrans" presStyleCnt="0"/>
      <dgm:spPr/>
    </dgm:pt>
    <dgm:pt modelId="{BB6DDD06-76BD-4234-B797-03BF5261DF80}" type="pres">
      <dgm:prSet presAssocID="{A60F5293-53FD-488A-826D-6DD242A253C1}" presName="node" presStyleLbl="node1" presStyleIdx="6" presStyleCnt="10">
        <dgm:presLayoutVars>
          <dgm:bulletEnabled val="1"/>
        </dgm:presLayoutVars>
      </dgm:prSet>
      <dgm:spPr/>
    </dgm:pt>
    <dgm:pt modelId="{A6197E07-9ED6-4345-819B-D483C4787B1C}" type="pres">
      <dgm:prSet presAssocID="{6CA9D576-82C3-477B-954F-A8F297609D12}" presName="sibTrans" presStyleCnt="0"/>
      <dgm:spPr/>
    </dgm:pt>
    <dgm:pt modelId="{B81C22A4-C043-4B32-AA13-64843F578BEA}" type="pres">
      <dgm:prSet presAssocID="{2CB778B7-9367-4129-AB00-D25C42F44D51}" presName="node" presStyleLbl="node1" presStyleIdx="7" presStyleCnt="10">
        <dgm:presLayoutVars>
          <dgm:bulletEnabled val="1"/>
        </dgm:presLayoutVars>
      </dgm:prSet>
      <dgm:spPr/>
    </dgm:pt>
    <dgm:pt modelId="{72C08317-E16A-45EB-8085-86E6ACB3BA20}" type="pres">
      <dgm:prSet presAssocID="{8F134896-1FEC-423A-B4AB-3641C6799128}" presName="sibTrans" presStyleCnt="0"/>
      <dgm:spPr/>
    </dgm:pt>
    <dgm:pt modelId="{343F4A60-D398-4D73-914B-3BD6088378C0}" type="pres">
      <dgm:prSet presAssocID="{28BCFBF7-473B-4755-A191-CBBFFD3F1934}" presName="node" presStyleLbl="node1" presStyleIdx="8" presStyleCnt="10">
        <dgm:presLayoutVars>
          <dgm:bulletEnabled val="1"/>
        </dgm:presLayoutVars>
      </dgm:prSet>
      <dgm:spPr/>
    </dgm:pt>
    <dgm:pt modelId="{38E5FC06-1584-4919-A0FF-140CDC2D6664}" type="pres">
      <dgm:prSet presAssocID="{D1E8A094-C568-4EE1-81ED-CE874B3471BF}" presName="sibTrans" presStyleCnt="0"/>
      <dgm:spPr/>
    </dgm:pt>
    <dgm:pt modelId="{D53E2DB9-0611-41C6-B613-08EBF53EF602}" type="pres">
      <dgm:prSet presAssocID="{C4E4B8FD-03CD-4C1E-BD5B-AEFF8BB3FE44}" presName="node" presStyleLbl="node1" presStyleIdx="9" presStyleCnt="10">
        <dgm:presLayoutVars>
          <dgm:bulletEnabled val="1"/>
        </dgm:presLayoutVars>
      </dgm:prSet>
      <dgm:spPr/>
    </dgm:pt>
  </dgm:ptLst>
  <dgm:cxnLst>
    <dgm:cxn modelId="{92C1B02A-8D94-4F0F-A8AF-0FBE68B605B9}" srcId="{7ECE2E47-0998-4F91-B5AC-13666F7CC635}" destId="{A60F5293-53FD-488A-826D-6DD242A253C1}" srcOrd="6" destOrd="0" parTransId="{91B7A500-7D47-4533-9A1F-968139120C8E}" sibTransId="{6CA9D576-82C3-477B-954F-A8F297609D12}"/>
    <dgm:cxn modelId="{3802B63A-35A6-4850-9768-DDC0447C13DB}" srcId="{7ECE2E47-0998-4F91-B5AC-13666F7CC635}" destId="{BB057D26-927C-4939-8B91-C3B6BF2B9B39}" srcOrd="3" destOrd="0" parTransId="{05AB51FE-CEBB-4CAF-9464-B0BF12F174B0}" sibTransId="{1C19F354-82DB-42A9-AF98-6898C4392C36}"/>
    <dgm:cxn modelId="{42423941-112D-44F0-9F43-3594BFAE7AEB}" srcId="{7ECE2E47-0998-4F91-B5AC-13666F7CC635}" destId="{264A5B51-C349-44AF-82E3-8DC613A0F84B}" srcOrd="0" destOrd="0" parTransId="{EBDD29EB-BE1B-4D7E-9F05-86B3ADB5E12A}" sibTransId="{D4D661C0-B39B-471C-A708-DC5E0B2CBCBA}"/>
    <dgm:cxn modelId="{40D86546-24E5-4D4B-A5E9-9BB661067B79}" type="presOf" srcId="{7ECE2E47-0998-4F91-B5AC-13666F7CC635}" destId="{8EADE108-0A1B-45CC-A633-FD5679913E0C}" srcOrd="0" destOrd="0" presId="urn:microsoft.com/office/officeart/2005/8/layout/default"/>
    <dgm:cxn modelId="{C65D876B-6358-4D86-996F-D9FEC481845B}" srcId="{7ECE2E47-0998-4F91-B5AC-13666F7CC635}" destId="{28BCFBF7-473B-4755-A191-CBBFFD3F1934}" srcOrd="8" destOrd="0" parTransId="{363D50D6-66EF-407C-A644-2F92AC0E541D}" sibTransId="{D1E8A094-C568-4EE1-81ED-CE874B3471BF}"/>
    <dgm:cxn modelId="{ADC58D6B-B419-437E-B819-A68BE67E7687}" srcId="{7ECE2E47-0998-4F91-B5AC-13666F7CC635}" destId="{C4E4B8FD-03CD-4C1E-BD5B-AEFF8BB3FE44}" srcOrd="9" destOrd="0" parTransId="{932CBD9C-E871-4CDC-830D-B6AE28BD7E7E}" sibTransId="{1FB18248-0957-4210-AEF9-1B84C063F9F3}"/>
    <dgm:cxn modelId="{529BA16E-7827-45B4-95BE-8E2FD5A10178}" type="presOf" srcId="{264A5B51-C349-44AF-82E3-8DC613A0F84B}" destId="{8C2FEE37-6E12-4FF5-ADC6-CC6A2DDF40BA}" srcOrd="0" destOrd="0" presId="urn:microsoft.com/office/officeart/2005/8/layout/default"/>
    <dgm:cxn modelId="{7AD0E64E-68C5-4533-9488-D05A2B247DD1}" type="presOf" srcId="{878E691F-72B8-493F-AD47-DD781FDDD40A}" destId="{28F45425-AD49-4ED9-92CA-DE011F59EFA2}" srcOrd="0" destOrd="0" presId="urn:microsoft.com/office/officeart/2005/8/layout/default"/>
    <dgm:cxn modelId="{F8BD5371-B5E6-4662-BF20-919A4A74E93F}" type="presOf" srcId="{6CF2D04A-83DE-4610-9A3F-CB1B87788A16}" destId="{5EAD0849-A968-4CF9-97A6-3654F1ED4C82}" srcOrd="0" destOrd="0" presId="urn:microsoft.com/office/officeart/2005/8/layout/default"/>
    <dgm:cxn modelId="{FD77DA56-619C-4116-9110-026982A35E9F}" srcId="{7ECE2E47-0998-4F91-B5AC-13666F7CC635}" destId="{878E691F-72B8-493F-AD47-DD781FDDD40A}" srcOrd="2" destOrd="0" parTransId="{C7043DE1-6F6D-44B1-9E5F-E37FD0B39625}" sibTransId="{49F71418-849D-480B-A89F-62251AE42423}"/>
    <dgm:cxn modelId="{A5DD3E78-6789-421E-BF37-4591572BD479}" srcId="{7ECE2E47-0998-4F91-B5AC-13666F7CC635}" destId="{56AAAC49-51D8-4B2C-8985-0B72093ABC1E}" srcOrd="4" destOrd="0" parTransId="{3EF55B2A-FC7A-4866-BC1A-A843C4454963}" sibTransId="{F2C6EC65-39A7-4EF7-9294-40C1BE5DDF96}"/>
    <dgm:cxn modelId="{6DB66279-D365-43F6-BFEA-FCDD472C662D}" type="presOf" srcId="{A60F5293-53FD-488A-826D-6DD242A253C1}" destId="{BB6DDD06-76BD-4234-B797-03BF5261DF80}" srcOrd="0" destOrd="0" presId="urn:microsoft.com/office/officeart/2005/8/layout/default"/>
    <dgm:cxn modelId="{90AFD692-E25A-4A04-B1E7-F0566F3E6B0E}" type="presOf" srcId="{2CB778B7-9367-4129-AB00-D25C42F44D51}" destId="{B81C22A4-C043-4B32-AA13-64843F578BEA}" srcOrd="0" destOrd="0" presId="urn:microsoft.com/office/officeart/2005/8/layout/default"/>
    <dgm:cxn modelId="{43FF629A-9535-462B-A12F-3F7A1ABEFF52}" srcId="{7ECE2E47-0998-4F91-B5AC-13666F7CC635}" destId="{2CB778B7-9367-4129-AB00-D25C42F44D51}" srcOrd="7" destOrd="0" parTransId="{397A0909-AFC9-41BC-9552-05CB96F54FAE}" sibTransId="{8F134896-1FEC-423A-B4AB-3641C6799128}"/>
    <dgm:cxn modelId="{67B8879C-FDAC-4040-9C2B-D89029F8CB65}" type="presOf" srcId="{BB057D26-927C-4939-8B91-C3B6BF2B9B39}" destId="{4337001F-11D1-4B40-A44F-B5E5B8F0A51F}" srcOrd="0" destOrd="0" presId="urn:microsoft.com/office/officeart/2005/8/layout/default"/>
    <dgm:cxn modelId="{BC5BF1B4-6B4F-4BEF-9C5E-863D829F40E1}" type="presOf" srcId="{28BCFBF7-473B-4755-A191-CBBFFD3F1934}" destId="{343F4A60-D398-4D73-914B-3BD6088378C0}" srcOrd="0" destOrd="0" presId="urn:microsoft.com/office/officeart/2005/8/layout/default"/>
    <dgm:cxn modelId="{39FE40CB-D1A3-4C43-BC56-869F9C167EB7}" srcId="{7ECE2E47-0998-4F91-B5AC-13666F7CC635}" destId="{089D6AEF-D8B7-4579-B075-90810518B5BC}" srcOrd="1" destOrd="0" parTransId="{BFC9CCCA-712D-4348-8C71-049B9C310AB1}" sibTransId="{497575AA-45B3-4FA6-9BF7-0A1933252EDE}"/>
    <dgm:cxn modelId="{B8B45AD5-5C35-4B72-AE14-D2CB9034C149}" type="presOf" srcId="{C4E4B8FD-03CD-4C1E-BD5B-AEFF8BB3FE44}" destId="{D53E2DB9-0611-41C6-B613-08EBF53EF602}" srcOrd="0" destOrd="0" presId="urn:microsoft.com/office/officeart/2005/8/layout/default"/>
    <dgm:cxn modelId="{D74FFFF0-A609-4F19-BA1A-BE93C4E146F6}" type="presOf" srcId="{56AAAC49-51D8-4B2C-8985-0B72093ABC1E}" destId="{0C88F74C-D85E-4476-BF62-4DEDEA711DB8}" srcOrd="0" destOrd="0" presId="urn:microsoft.com/office/officeart/2005/8/layout/default"/>
    <dgm:cxn modelId="{56DA19F2-D772-4F4A-97D9-B72A7A628CF4}" type="presOf" srcId="{089D6AEF-D8B7-4579-B075-90810518B5BC}" destId="{E49DD094-A0C1-422A-91CE-70B9BB939941}" srcOrd="0" destOrd="0" presId="urn:microsoft.com/office/officeart/2005/8/layout/default"/>
    <dgm:cxn modelId="{D87989FE-5F04-4918-8332-1F93124117F8}" srcId="{7ECE2E47-0998-4F91-B5AC-13666F7CC635}" destId="{6CF2D04A-83DE-4610-9A3F-CB1B87788A16}" srcOrd="5" destOrd="0" parTransId="{F27AA21A-47F5-4B23-9346-A119B154F501}" sibTransId="{8B515E8C-8873-4FCE-AE83-DFA0C150A212}"/>
    <dgm:cxn modelId="{2D62D4E2-E27D-4697-9BF3-864CA8FBDE38}" type="presParOf" srcId="{8EADE108-0A1B-45CC-A633-FD5679913E0C}" destId="{8C2FEE37-6E12-4FF5-ADC6-CC6A2DDF40BA}" srcOrd="0" destOrd="0" presId="urn:microsoft.com/office/officeart/2005/8/layout/default"/>
    <dgm:cxn modelId="{DDC51733-17F2-42CC-97A1-1B1FC41C271C}" type="presParOf" srcId="{8EADE108-0A1B-45CC-A633-FD5679913E0C}" destId="{5D5C79BC-8CD8-4ECE-8802-4AEC6655C916}" srcOrd="1" destOrd="0" presId="urn:microsoft.com/office/officeart/2005/8/layout/default"/>
    <dgm:cxn modelId="{84F9037D-C7FD-4176-AB3F-4E08D49D8587}" type="presParOf" srcId="{8EADE108-0A1B-45CC-A633-FD5679913E0C}" destId="{E49DD094-A0C1-422A-91CE-70B9BB939941}" srcOrd="2" destOrd="0" presId="urn:microsoft.com/office/officeart/2005/8/layout/default"/>
    <dgm:cxn modelId="{A8B443B2-DC95-40C3-ACC8-A9B7E8846AC6}" type="presParOf" srcId="{8EADE108-0A1B-45CC-A633-FD5679913E0C}" destId="{A337DE71-E5F6-4E9D-A798-E150A72673E5}" srcOrd="3" destOrd="0" presId="urn:microsoft.com/office/officeart/2005/8/layout/default"/>
    <dgm:cxn modelId="{EE633F9E-4163-414C-B01B-170CD2266956}" type="presParOf" srcId="{8EADE108-0A1B-45CC-A633-FD5679913E0C}" destId="{28F45425-AD49-4ED9-92CA-DE011F59EFA2}" srcOrd="4" destOrd="0" presId="urn:microsoft.com/office/officeart/2005/8/layout/default"/>
    <dgm:cxn modelId="{695B0DD6-7599-4688-811D-89C3AE92CF51}" type="presParOf" srcId="{8EADE108-0A1B-45CC-A633-FD5679913E0C}" destId="{E8F984D8-4024-48C2-A4FA-FD99E1D0613B}" srcOrd="5" destOrd="0" presId="urn:microsoft.com/office/officeart/2005/8/layout/default"/>
    <dgm:cxn modelId="{9D42289C-E16B-4DDD-BA7B-2C88C4A8D27F}" type="presParOf" srcId="{8EADE108-0A1B-45CC-A633-FD5679913E0C}" destId="{4337001F-11D1-4B40-A44F-B5E5B8F0A51F}" srcOrd="6" destOrd="0" presId="urn:microsoft.com/office/officeart/2005/8/layout/default"/>
    <dgm:cxn modelId="{AE57E716-5221-46B9-A8EA-C5AAF7E7FB71}" type="presParOf" srcId="{8EADE108-0A1B-45CC-A633-FD5679913E0C}" destId="{04C88CA1-5377-45B5-8386-F8AE495C0C4B}" srcOrd="7" destOrd="0" presId="urn:microsoft.com/office/officeart/2005/8/layout/default"/>
    <dgm:cxn modelId="{1EB55805-4F10-48BD-BE95-3A335231562A}" type="presParOf" srcId="{8EADE108-0A1B-45CC-A633-FD5679913E0C}" destId="{0C88F74C-D85E-4476-BF62-4DEDEA711DB8}" srcOrd="8" destOrd="0" presId="urn:microsoft.com/office/officeart/2005/8/layout/default"/>
    <dgm:cxn modelId="{FA696BF9-2821-4911-A5F1-C7958D57736B}" type="presParOf" srcId="{8EADE108-0A1B-45CC-A633-FD5679913E0C}" destId="{1F663A56-EC5D-4BEB-8800-CCC844F08BF6}" srcOrd="9" destOrd="0" presId="urn:microsoft.com/office/officeart/2005/8/layout/default"/>
    <dgm:cxn modelId="{1A3240FC-4B37-466B-97E6-22F11F0E031E}" type="presParOf" srcId="{8EADE108-0A1B-45CC-A633-FD5679913E0C}" destId="{5EAD0849-A968-4CF9-97A6-3654F1ED4C82}" srcOrd="10" destOrd="0" presId="urn:microsoft.com/office/officeart/2005/8/layout/default"/>
    <dgm:cxn modelId="{3CB38B5B-9EA2-428B-9B9D-27FE0E74B3F7}" type="presParOf" srcId="{8EADE108-0A1B-45CC-A633-FD5679913E0C}" destId="{ED1AD6D9-BF2B-4A5F-9E12-C9E4A64004F3}" srcOrd="11" destOrd="0" presId="urn:microsoft.com/office/officeart/2005/8/layout/default"/>
    <dgm:cxn modelId="{C157F5FC-A3B9-4611-8198-CDEDC1669E61}" type="presParOf" srcId="{8EADE108-0A1B-45CC-A633-FD5679913E0C}" destId="{BB6DDD06-76BD-4234-B797-03BF5261DF80}" srcOrd="12" destOrd="0" presId="urn:microsoft.com/office/officeart/2005/8/layout/default"/>
    <dgm:cxn modelId="{C9A61360-616C-459B-840B-7C8ACC52191E}" type="presParOf" srcId="{8EADE108-0A1B-45CC-A633-FD5679913E0C}" destId="{A6197E07-9ED6-4345-819B-D483C4787B1C}" srcOrd="13" destOrd="0" presId="urn:microsoft.com/office/officeart/2005/8/layout/default"/>
    <dgm:cxn modelId="{4ED13AF2-F387-49BB-9957-FAAE97F8CC8C}" type="presParOf" srcId="{8EADE108-0A1B-45CC-A633-FD5679913E0C}" destId="{B81C22A4-C043-4B32-AA13-64843F578BEA}" srcOrd="14" destOrd="0" presId="urn:microsoft.com/office/officeart/2005/8/layout/default"/>
    <dgm:cxn modelId="{29F2B167-FAD0-44A4-B4A5-3D1EAFA460FC}" type="presParOf" srcId="{8EADE108-0A1B-45CC-A633-FD5679913E0C}" destId="{72C08317-E16A-45EB-8085-86E6ACB3BA20}" srcOrd="15" destOrd="0" presId="urn:microsoft.com/office/officeart/2005/8/layout/default"/>
    <dgm:cxn modelId="{25DEFF68-DB70-440D-AFD8-80D51B0B93B2}" type="presParOf" srcId="{8EADE108-0A1B-45CC-A633-FD5679913E0C}" destId="{343F4A60-D398-4D73-914B-3BD6088378C0}" srcOrd="16" destOrd="0" presId="urn:microsoft.com/office/officeart/2005/8/layout/default"/>
    <dgm:cxn modelId="{DE293511-49B2-4FF4-B7FB-AC18FF546F8E}" type="presParOf" srcId="{8EADE108-0A1B-45CC-A633-FD5679913E0C}" destId="{38E5FC06-1584-4919-A0FF-140CDC2D6664}" srcOrd="17" destOrd="0" presId="urn:microsoft.com/office/officeart/2005/8/layout/default"/>
    <dgm:cxn modelId="{CE3FF661-1AD3-4EE1-AADE-476ECF7147D0}" type="presParOf" srcId="{8EADE108-0A1B-45CC-A633-FD5679913E0C}" destId="{D53E2DB9-0611-41C6-B613-08EBF53EF602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E0F2A60-69A3-4687-A2AA-929C424260A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048F50F-FE78-4437-8816-E770B0E938A1}">
      <dgm:prSet/>
      <dgm:spPr/>
      <dgm:t>
        <a:bodyPr/>
        <a:lstStyle/>
        <a:p>
          <a:r>
            <a:rPr lang="en-GB" b="1"/>
            <a:t>higher</a:t>
          </a:r>
          <a:r>
            <a:rPr lang="en-GB"/>
            <a:t> - wants to take higher education (binary: yes or no)</a:t>
          </a:r>
          <a:endParaRPr lang="en-US"/>
        </a:p>
      </dgm:t>
    </dgm:pt>
    <dgm:pt modelId="{7EA4FA25-BD6F-46DA-878E-22A1FB1580D2}" type="parTrans" cxnId="{6311D174-43DF-4D1E-B021-6A59D9207520}">
      <dgm:prSet/>
      <dgm:spPr/>
      <dgm:t>
        <a:bodyPr/>
        <a:lstStyle/>
        <a:p>
          <a:endParaRPr lang="en-US"/>
        </a:p>
      </dgm:t>
    </dgm:pt>
    <dgm:pt modelId="{83822C1C-7DAF-4EB7-90AC-1EC501D3E891}" type="sibTrans" cxnId="{6311D174-43DF-4D1E-B021-6A59D9207520}">
      <dgm:prSet/>
      <dgm:spPr/>
      <dgm:t>
        <a:bodyPr/>
        <a:lstStyle/>
        <a:p>
          <a:endParaRPr lang="en-US"/>
        </a:p>
      </dgm:t>
    </dgm:pt>
    <dgm:pt modelId="{8FBB0F3E-8723-4055-8DEB-0DBD8F74F198}">
      <dgm:prSet/>
      <dgm:spPr/>
      <dgm:t>
        <a:bodyPr/>
        <a:lstStyle/>
        <a:p>
          <a:r>
            <a:rPr lang="en-GB" b="1"/>
            <a:t>internet</a:t>
          </a:r>
          <a:r>
            <a:rPr lang="en-GB"/>
            <a:t> - Internet access at home (binary: yes or no)</a:t>
          </a:r>
          <a:endParaRPr lang="en-US"/>
        </a:p>
      </dgm:t>
    </dgm:pt>
    <dgm:pt modelId="{472A917B-D405-4B4B-90E9-2FF154FC19D4}" type="parTrans" cxnId="{B42546FA-CDDE-4CD1-9DAB-D7FB648576EE}">
      <dgm:prSet/>
      <dgm:spPr/>
      <dgm:t>
        <a:bodyPr/>
        <a:lstStyle/>
        <a:p>
          <a:endParaRPr lang="en-US"/>
        </a:p>
      </dgm:t>
    </dgm:pt>
    <dgm:pt modelId="{EAE38F5A-6023-4C6C-B903-AE1B950273D9}" type="sibTrans" cxnId="{B42546FA-CDDE-4CD1-9DAB-D7FB648576EE}">
      <dgm:prSet/>
      <dgm:spPr/>
      <dgm:t>
        <a:bodyPr/>
        <a:lstStyle/>
        <a:p>
          <a:endParaRPr lang="en-US"/>
        </a:p>
      </dgm:t>
    </dgm:pt>
    <dgm:pt modelId="{075333EA-2256-4A14-B1E7-E2C3F2AF20CA}">
      <dgm:prSet/>
      <dgm:spPr/>
      <dgm:t>
        <a:bodyPr/>
        <a:lstStyle/>
        <a:p>
          <a:r>
            <a:rPr lang="en-GB" b="1"/>
            <a:t>romantic</a:t>
          </a:r>
          <a:r>
            <a:rPr lang="en-GB"/>
            <a:t> - with a romantic relationship (binary: yes or no)</a:t>
          </a:r>
          <a:endParaRPr lang="en-US"/>
        </a:p>
      </dgm:t>
    </dgm:pt>
    <dgm:pt modelId="{E8E47051-2D55-407B-9F9B-5C8C3626BDA4}" type="parTrans" cxnId="{FCF4794B-1F0D-4DCC-BF2A-FBD0B4B901C3}">
      <dgm:prSet/>
      <dgm:spPr/>
      <dgm:t>
        <a:bodyPr/>
        <a:lstStyle/>
        <a:p>
          <a:endParaRPr lang="en-US"/>
        </a:p>
      </dgm:t>
    </dgm:pt>
    <dgm:pt modelId="{57B72CD4-F34A-47BB-A161-B878433A94E1}" type="sibTrans" cxnId="{FCF4794B-1F0D-4DCC-BF2A-FBD0B4B901C3}">
      <dgm:prSet/>
      <dgm:spPr/>
      <dgm:t>
        <a:bodyPr/>
        <a:lstStyle/>
        <a:p>
          <a:endParaRPr lang="en-US"/>
        </a:p>
      </dgm:t>
    </dgm:pt>
    <dgm:pt modelId="{CB17879B-2BAA-4035-B292-8B02A3F95481}">
      <dgm:prSet/>
      <dgm:spPr/>
      <dgm:t>
        <a:bodyPr/>
        <a:lstStyle/>
        <a:p>
          <a:r>
            <a:rPr lang="en-GB" b="1"/>
            <a:t>famrel</a:t>
          </a:r>
          <a:r>
            <a:rPr lang="en-GB"/>
            <a:t> - quality of family relationships (numeric: from 1 - very bad to 5 - excellent)</a:t>
          </a:r>
          <a:endParaRPr lang="en-US"/>
        </a:p>
      </dgm:t>
    </dgm:pt>
    <dgm:pt modelId="{93715995-1B94-4049-8733-258E53CC24CF}" type="parTrans" cxnId="{6FEC75C1-4279-448C-AF3E-788A94215C93}">
      <dgm:prSet/>
      <dgm:spPr/>
      <dgm:t>
        <a:bodyPr/>
        <a:lstStyle/>
        <a:p>
          <a:endParaRPr lang="en-US"/>
        </a:p>
      </dgm:t>
    </dgm:pt>
    <dgm:pt modelId="{FEFD6C24-B07E-42F3-B7FD-4C14B954C8E1}" type="sibTrans" cxnId="{6FEC75C1-4279-448C-AF3E-788A94215C93}">
      <dgm:prSet/>
      <dgm:spPr/>
      <dgm:t>
        <a:bodyPr/>
        <a:lstStyle/>
        <a:p>
          <a:endParaRPr lang="en-US"/>
        </a:p>
      </dgm:t>
    </dgm:pt>
    <dgm:pt modelId="{AD05A7FC-EA22-4ED8-9774-62001947BE79}">
      <dgm:prSet/>
      <dgm:spPr/>
      <dgm:t>
        <a:bodyPr/>
        <a:lstStyle/>
        <a:p>
          <a:r>
            <a:rPr lang="en-GB" b="1"/>
            <a:t>freetime</a:t>
          </a:r>
          <a:r>
            <a:rPr lang="en-GB"/>
            <a:t> - free time after school (numeric: from 1 - very low to 5 - very high)</a:t>
          </a:r>
          <a:endParaRPr lang="en-US"/>
        </a:p>
      </dgm:t>
    </dgm:pt>
    <dgm:pt modelId="{018F67C4-116B-4965-9C0A-DD16B0CA1115}" type="parTrans" cxnId="{C4C52DE0-4A40-46C9-9A2F-F60C4353F1AF}">
      <dgm:prSet/>
      <dgm:spPr/>
      <dgm:t>
        <a:bodyPr/>
        <a:lstStyle/>
        <a:p>
          <a:endParaRPr lang="en-US"/>
        </a:p>
      </dgm:t>
    </dgm:pt>
    <dgm:pt modelId="{86D12D91-8E29-4D02-ADE9-84773525EA63}" type="sibTrans" cxnId="{C4C52DE0-4A40-46C9-9A2F-F60C4353F1AF}">
      <dgm:prSet/>
      <dgm:spPr/>
      <dgm:t>
        <a:bodyPr/>
        <a:lstStyle/>
        <a:p>
          <a:endParaRPr lang="en-US"/>
        </a:p>
      </dgm:t>
    </dgm:pt>
    <dgm:pt modelId="{50E3E0B9-F6D5-4F9B-845E-5D975905F9B8}">
      <dgm:prSet/>
      <dgm:spPr/>
      <dgm:t>
        <a:bodyPr/>
        <a:lstStyle/>
        <a:p>
          <a:r>
            <a:rPr lang="en-GB" b="1"/>
            <a:t>goout</a:t>
          </a:r>
          <a:r>
            <a:rPr lang="en-GB"/>
            <a:t> - going out with friends (numeric: from 1 - very low to 5 - very high)</a:t>
          </a:r>
          <a:endParaRPr lang="en-US"/>
        </a:p>
      </dgm:t>
    </dgm:pt>
    <dgm:pt modelId="{D2FCA5A8-C151-45C0-8AB4-7A11E68686CD}" type="parTrans" cxnId="{CF1AE5B0-0247-44D5-80B2-AFA67F268020}">
      <dgm:prSet/>
      <dgm:spPr/>
      <dgm:t>
        <a:bodyPr/>
        <a:lstStyle/>
        <a:p>
          <a:endParaRPr lang="en-US"/>
        </a:p>
      </dgm:t>
    </dgm:pt>
    <dgm:pt modelId="{565CE943-2D7A-47EC-BA0A-204AE6A72DA0}" type="sibTrans" cxnId="{CF1AE5B0-0247-44D5-80B2-AFA67F268020}">
      <dgm:prSet/>
      <dgm:spPr/>
      <dgm:t>
        <a:bodyPr/>
        <a:lstStyle/>
        <a:p>
          <a:endParaRPr lang="en-US"/>
        </a:p>
      </dgm:t>
    </dgm:pt>
    <dgm:pt modelId="{BDC3417F-6315-4679-AEFA-420506242D9C}">
      <dgm:prSet/>
      <dgm:spPr/>
      <dgm:t>
        <a:bodyPr/>
        <a:lstStyle/>
        <a:p>
          <a:r>
            <a:rPr lang="en-GB" b="1"/>
            <a:t>Dalc</a:t>
          </a:r>
          <a:r>
            <a:rPr lang="en-GB"/>
            <a:t> - workday alcohol consumption (numeric: from 1 - very low to 5 - very high)</a:t>
          </a:r>
          <a:endParaRPr lang="en-US"/>
        </a:p>
      </dgm:t>
    </dgm:pt>
    <dgm:pt modelId="{04A060CA-F8C1-4506-B40C-AFF86B6285A9}" type="parTrans" cxnId="{D6BA5F23-4279-46E8-A649-93BD7B4A708F}">
      <dgm:prSet/>
      <dgm:spPr/>
      <dgm:t>
        <a:bodyPr/>
        <a:lstStyle/>
        <a:p>
          <a:endParaRPr lang="en-US"/>
        </a:p>
      </dgm:t>
    </dgm:pt>
    <dgm:pt modelId="{EB953A9F-6F4B-480F-8187-0F2B8195BC09}" type="sibTrans" cxnId="{D6BA5F23-4279-46E8-A649-93BD7B4A708F}">
      <dgm:prSet/>
      <dgm:spPr/>
      <dgm:t>
        <a:bodyPr/>
        <a:lstStyle/>
        <a:p>
          <a:endParaRPr lang="en-US"/>
        </a:p>
      </dgm:t>
    </dgm:pt>
    <dgm:pt modelId="{6FA57DA4-72F5-413A-ADC5-4072A59DD0C4}">
      <dgm:prSet/>
      <dgm:spPr/>
      <dgm:t>
        <a:bodyPr/>
        <a:lstStyle/>
        <a:p>
          <a:r>
            <a:rPr lang="en-GB" b="1"/>
            <a:t>Walc</a:t>
          </a:r>
          <a:r>
            <a:rPr lang="en-GB"/>
            <a:t> - weekend alcohol consumption (numeric: from 1 - very low to 5 - very high)</a:t>
          </a:r>
          <a:endParaRPr lang="en-US"/>
        </a:p>
      </dgm:t>
    </dgm:pt>
    <dgm:pt modelId="{EDD9D687-ABBE-4784-B25A-B65F029293BE}" type="parTrans" cxnId="{9E417F43-4EB1-4C1C-A514-943C1B27B2F8}">
      <dgm:prSet/>
      <dgm:spPr/>
      <dgm:t>
        <a:bodyPr/>
        <a:lstStyle/>
        <a:p>
          <a:endParaRPr lang="en-US"/>
        </a:p>
      </dgm:t>
    </dgm:pt>
    <dgm:pt modelId="{1C545BCB-393F-4DD3-B544-C1ED2D0125C8}" type="sibTrans" cxnId="{9E417F43-4EB1-4C1C-A514-943C1B27B2F8}">
      <dgm:prSet/>
      <dgm:spPr/>
      <dgm:t>
        <a:bodyPr/>
        <a:lstStyle/>
        <a:p>
          <a:endParaRPr lang="en-US"/>
        </a:p>
      </dgm:t>
    </dgm:pt>
    <dgm:pt modelId="{C33F067E-54A5-487F-9501-6A060A07C0BE}">
      <dgm:prSet/>
      <dgm:spPr/>
      <dgm:t>
        <a:bodyPr/>
        <a:lstStyle/>
        <a:p>
          <a:r>
            <a:rPr lang="en-GB" b="1"/>
            <a:t>health</a:t>
          </a:r>
          <a:r>
            <a:rPr lang="en-GB"/>
            <a:t> - current health status (numeric: from 1 - very bad to 5 - very good)</a:t>
          </a:r>
          <a:endParaRPr lang="en-US"/>
        </a:p>
      </dgm:t>
    </dgm:pt>
    <dgm:pt modelId="{A8159B73-CC82-4E1A-8DF1-95C81C16A2E5}" type="parTrans" cxnId="{84AF07F5-E8FE-40DF-8B82-7E4C4499C388}">
      <dgm:prSet/>
      <dgm:spPr/>
      <dgm:t>
        <a:bodyPr/>
        <a:lstStyle/>
        <a:p>
          <a:endParaRPr lang="en-US"/>
        </a:p>
      </dgm:t>
    </dgm:pt>
    <dgm:pt modelId="{0D2089FC-78AC-4A48-B127-07F5B90F4C51}" type="sibTrans" cxnId="{84AF07F5-E8FE-40DF-8B82-7E4C4499C388}">
      <dgm:prSet/>
      <dgm:spPr/>
      <dgm:t>
        <a:bodyPr/>
        <a:lstStyle/>
        <a:p>
          <a:endParaRPr lang="en-US"/>
        </a:p>
      </dgm:t>
    </dgm:pt>
    <dgm:pt modelId="{9FAEA177-27D0-4F5E-9BCC-ED2730E4676E}">
      <dgm:prSet/>
      <dgm:spPr/>
      <dgm:t>
        <a:bodyPr/>
        <a:lstStyle/>
        <a:p>
          <a:r>
            <a:rPr lang="en-GB" b="1"/>
            <a:t>absences</a:t>
          </a:r>
          <a:r>
            <a:rPr lang="en-GB"/>
            <a:t> - number of school absences (numeric: from 0 to 93)</a:t>
          </a:r>
          <a:endParaRPr lang="en-US"/>
        </a:p>
      </dgm:t>
    </dgm:pt>
    <dgm:pt modelId="{8790913A-FB0D-44F7-ABB2-9ED6E517E975}" type="parTrans" cxnId="{7AA2AECA-C50D-4ACF-A386-4242568FE965}">
      <dgm:prSet/>
      <dgm:spPr/>
      <dgm:t>
        <a:bodyPr/>
        <a:lstStyle/>
        <a:p>
          <a:endParaRPr lang="en-US"/>
        </a:p>
      </dgm:t>
    </dgm:pt>
    <dgm:pt modelId="{D4E6B68D-3390-4AC9-B1D7-6DB9B221DEF2}" type="sibTrans" cxnId="{7AA2AECA-C50D-4ACF-A386-4242568FE965}">
      <dgm:prSet/>
      <dgm:spPr/>
      <dgm:t>
        <a:bodyPr/>
        <a:lstStyle/>
        <a:p>
          <a:endParaRPr lang="en-US"/>
        </a:p>
      </dgm:t>
    </dgm:pt>
    <dgm:pt modelId="{508A5C56-159A-4C38-96BF-DF0145D5C20C}">
      <dgm:prSet/>
      <dgm:spPr/>
      <dgm:t>
        <a:bodyPr/>
        <a:lstStyle/>
        <a:p>
          <a:r>
            <a:rPr lang="en-GB" b="1"/>
            <a:t>G1</a:t>
          </a:r>
          <a:r>
            <a:rPr lang="en-GB"/>
            <a:t> - first period grade (numeric: from 0 to 20)</a:t>
          </a:r>
          <a:endParaRPr lang="en-US"/>
        </a:p>
      </dgm:t>
    </dgm:pt>
    <dgm:pt modelId="{1D41EE0C-64B4-47A1-8755-59F084F22F25}" type="parTrans" cxnId="{494D91C6-C89F-40AE-A706-4DD2A218CEF1}">
      <dgm:prSet/>
      <dgm:spPr/>
      <dgm:t>
        <a:bodyPr/>
        <a:lstStyle/>
        <a:p>
          <a:endParaRPr lang="en-US"/>
        </a:p>
      </dgm:t>
    </dgm:pt>
    <dgm:pt modelId="{179941EA-BD76-4479-BB29-6F730C450FE6}" type="sibTrans" cxnId="{494D91C6-C89F-40AE-A706-4DD2A218CEF1}">
      <dgm:prSet/>
      <dgm:spPr/>
      <dgm:t>
        <a:bodyPr/>
        <a:lstStyle/>
        <a:p>
          <a:endParaRPr lang="en-US"/>
        </a:p>
      </dgm:t>
    </dgm:pt>
    <dgm:pt modelId="{BDEE2E5F-0CD8-4775-9835-7E87E59036C0}">
      <dgm:prSet/>
      <dgm:spPr/>
      <dgm:t>
        <a:bodyPr/>
        <a:lstStyle/>
        <a:p>
          <a:r>
            <a:rPr lang="en-GB" b="1"/>
            <a:t>G2</a:t>
          </a:r>
          <a:r>
            <a:rPr lang="en-GB"/>
            <a:t> - second period grade (numeric: from 0 to 20)</a:t>
          </a:r>
          <a:endParaRPr lang="en-US"/>
        </a:p>
      </dgm:t>
    </dgm:pt>
    <dgm:pt modelId="{6FDB8479-BA00-40F4-94C4-5DC4E7D1A4EB}" type="parTrans" cxnId="{F356B341-108F-4DC8-9599-0F5C2C05A558}">
      <dgm:prSet/>
      <dgm:spPr/>
      <dgm:t>
        <a:bodyPr/>
        <a:lstStyle/>
        <a:p>
          <a:endParaRPr lang="en-US"/>
        </a:p>
      </dgm:t>
    </dgm:pt>
    <dgm:pt modelId="{A5E81241-1006-4DEB-987A-32AFC62A6137}" type="sibTrans" cxnId="{F356B341-108F-4DC8-9599-0F5C2C05A558}">
      <dgm:prSet/>
      <dgm:spPr/>
      <dgm:t>
        <a:bodyPr/>
        <a:lstStyle/>
        <a:p>
          <a:endParaRPr lang="en-US"/>
        </a:p>
      </dgm:t>
    </dgm:pt>
    <dgm:pt modelId="{0E5723F3-852E-4D4C-9CFF-9D9210E7867F}">
      <dgm:prSet/>
      <dgm:spPr/>
      <dgm:t>
        <a:bodyPr/>
        <a:lstStyle/>
        <a:p>
          <a:r>
            <a:rPr lang="en-GB" b="1"/>
            <a:t>G3</a:t>
          </a:r>
          <a:r>
            <a:rPr lang="en-GB"/>
            <a:t> - final grade (numeric: from 0 to 20, output target)</a:t>
          </a:r>
          <a:endParaRPr lang="en-US"/>
        </a:p>
      </dgm:t>
    </dgm:pt>
    <dgm:pt modelId="{8A21E25D-D5F9-462F-A800-30ACD8E7CDBA}" type="parTrans" cxnId="{29A11F41-5506-42F0-9402-E1D0DD7F5505}">
      <dgm:prSet/>
      <dgm:spPr/>
      <dgm:t>
        <a:bodyPr/>
        <a:lstStyle/>
        <a:p>
          <a:endParaRPr lang="en-US"/>
        </a:p>
      </dgm:t>
    </dgm:pt>
    <dgm:pt modelId="{A6C28951-A2B5-406A-AAC1-C08FA2AE5D0F}" type="sibTrans" cxnId="{29A11F41-5506-42F0-9402-E1D0DD7F5505}">
      <dgm:prSet/>
      <dgm:spPr/>
      <dgm:t>
        <a:bodyPr/>
        <a:lstStyle/>
        <a:p>
          <a:endParaRPr lang="en-US"/>
        </a:p>
      </dgm:t>
    </dgm:pt>
    <dgm:pt modelId="{F72F4958-127A-4F08-BA9F-396B16BE4847}" type="pres">
      <dgm:prSet presAssocID="{2E0F2A60-69A3-4687-A2AA-929C424260A1}" presName="diagram" presStyleCnt="0">
        <dgm:presLayoutVars>
          <dgm:dir/>
          <dgm:resizeHandles val="exact"/>
        </dgm:presLayoutVars>
      </dgm:prSet>
      <dgm:spPr/>
    </dgm:pt>
    <dgm:pt modelId="{4C919DA6-C362-4C3F-AE9F-4C67360D6302}" type="pres">
      <dgm:prSet presAssocID="{8048F50F-FE78-4437-8816-E770B0E938A1}" presName="node" presStyleLbl="node1" presStyleIdx="0" presStyleCnt="13">
        <dgm:presLayoutVars>
          <dgm:bulletEnabled val="1"/>
        </dgm:presLayoutVars>
      </dgm:prSet>
      <dgm:spPr/>
    </dgm:pt>
    <dgm:pt modelId="{6B8AB1DE-8233-4F3F-A0A8-F9FEA4C08CD9}" type="pres">
      <dgm:prSet presAssocID="{83822C1C-7DAF-4EB7-90AC-1EC501D3E891}" presName="sibTrans" presStyleCnt="0"/>
      <dgm:spPr/>
    </dgm:pt>
    <dgm:pt modelId="{83635127-D2D9-4E1D-B4A1-292B8838546D}" type="pres">
      <dgm:prSet presAssocID="{8FBB0F3E-8723-4055-8DEB-0DBD8F74F198}" presName="node" presStyleLbl="node1" presStyleIdx="1" presStyleCnt="13">
        <dgm:presLayoutVars>
          <dgm:bulletEnabled val="1"/>
        </dgm:presLayoutVars>
      </dgm:prSet>
      <dgm:spPr/>
    </dgm:pt>
    <dgm:pt modelId="{D7F241FB-89C2-40E4-8DFB-06ED1C48F7CD}" type="pres">
      <dgm:prSet presAssocID="{EAE38F5A-6023-4C6C-B903-AE1B950273D9}" presName="sibTrans" presStyleCnt="0"/>
      <dgm:spPr/>
    </dgm:pt>
    <dgm:pt modelId="{8C15F2CB-20BB-4C9D-BBAB-EDB2E8DDCCF0}" type="pres">
      <dgm:prSet presAssocID="{075333EA-2256-4A14-B1E7-E2C3F2AF20CA}" presName="node" presStyleLbl="node1" presStyleIdx="2" presStyleCnt="13">
        <dgm:presLayoutVars>
          <dgm:bulletEnabled val="1"/>
        </dgm:presLayoutVars>
      </dgm:prSet>
      <dgm:spPr/>
    </dgm:pt>
    <dgm:pt modelId="{50660873-8A18-42CF-9D5A-CF478F3315A5}" type="pres">
      <dgm:prSet presAssocID="{57B72CD4-F34A-47BB-A161-B878433A94E1}" presName="sibTrans" presStyleCnt="0"/>
      <dgm:spPr/>
    </dgm:pt>
    <dgm:pt modelId="{00263C17-6D14-41BA-BB41-DAE8C738B80F}" type="pres">
      <dgm:prSet presAssocID="{CB17879B-2BAA-4035-B292-8B02A3F95481}" presName="node" presStyleLbl="node1" presStyleIdx="3" presStyleCnt="13">
        <dgm:presLayoutVars>
          <dgm:bulletEnabled val="1"/>
        </dgm:presLayoutVars>
      </dgm:prSet>
      <dgm:spPr/>
    </dgm:pt>
    <dgm:pt modelId="{3398109F-9976-415D-9B2F-352FC60C5CA0}" type="pres">
      <dgm:prSet presAssocID="{FEFD6C24-B07E-42F3-B7FD-4C14B954C8E1}" presName="sibTrans" presStyleCnt="0"/>
      <dgm:spPr/>
    </dgm:pt>
    <dgm:pt modelId="{47E076D7-EF2B-4416-97A4-4CDD7C293CE5}" type="pres">
      <dgm:prSet presAssocID="{AD05A7FC-EA22-4ED8-9774-62001947BE79}" presName="node" presStyleLbl="node1" presStyleIdx="4" presStyleCnt="13">
        <dgm:presLayoutVars>
          <dgm:bulletEnabled val="1"/>
        </dgm:presLayoutVars>
      </dgm:prSet>
      <dgm:spPr/>
    </dgm:pt>
    <dgm:pt modelId="{AA6F074A-7E3C-4D73-A968-D0DBBC887B6D}" type="pres">
      <dgm:prSet presAssocID="{86D12D91-8E29-4D02-ADE9-84773525EA63}" presName="sibTrans" presStyleCnt="0"/>
      <dgm:spPr/>
    </dgm:pt>
    <dgm:pt modelId="{489A38FD-C7CC-460E-8E46-3A9DD4DC9C0C}" type="pres">
      <dgm:prSet presAssocID="{50E3E0B9-F6D5-4F9B-845E-5D975905F9B8}" presName="node" presStyleLbl="node1" presStyleIdx="5" presStyleCnt="13">
        <dgm:presLayoutVars>
          <dgm:bulletEnabled val="1"/>
        </dgm:presLayoutVars>
      </dgm:prSet>
      <dgm:spPr/>
    </dgm:pt>
    <dgm:pt modelId="{4D81335B-D4D2-47DB-9E86-FD331F414D64}" type="pres">
      <dgm:prSet presAssocID="{565CE943-2D7A-47EC-BA0A-204AE6A72DA0}" presName="sibTrans" presStyleCnt="0"/>
      <dgm:spPr/>
    </dgm:pt>
    <dgm:pt modelId="{2B97D8D0-6174-4935-A4BF-16A11F713965}" type="pres">
      <dgm:prSet presAssocID="{BDC3417F-6315-4679-AEFA-420506242D9C}" presName="node" presStyleLbl="node1" presStyleIdx="6" presStyleCnt="13">
        <dgm:presLayoutVars>
          <dgm:bulletEnabled val="1"/>
        </dgm:presLayoutVars>
      </dgm:prSet>
      <dgm:spPr/>
    </dgm:pt>
    <dgm:pt modelId="{98296B14-58CF-45A9-A054-8637AD9407C5}" type="pres">
      <dgm:prSet presAssocID="{EB953A9F-6F4B-480F-8187-0F2B8195BC09}" presName="sibTrans" presStyleCnt="0"/>
      <dgm:spPr/>
    </dgm:pt>
    <dgm:pt modelId="{CA84875E-2A84-4797-9591-C8B2A73F0BEC}" type="pres">
      <dgm:prSet presAssocID="{6FA57DA4-72F5-413A-ADC5-4072A59DD0C4}" presName="node" presStyleLbl="node1" presStyleIdx="7" presStyleCnt="13">
        <dgm:presLayoutVars>
          <dgm:bulletEnabled val="1"/>
        </dgm:presLayoutVars>
      </dgm:prSet>
      <dgm:spPr/>
    </dgm:pt>
    <dgm:pt modelId="{C387F7D6-D5D9-4AB1-A47A-9BF6AAA1FC9E}" type="pres">
      <dgm:prSet presAssocID="{1C545BCB-393F-4DD3-B544-C1ED2D0125C8}" presName="sibTrans" presStyleCnt="0"/>
      <dgm:spPr/>
    </dgm:pt>
    <dgm:pt modelId="{0224D6CB-FE95-43F1-9D25-90588E7CB4FC}" type="pres">
      <dgm:prSet presAssocID="{C33F067E-54A5-487F-9501-6A060A07C0BE}" presName="node" presStyleLbl="node1" presStyleIdx="8" presStyleCnt="13">
        <dgm:presLayoutVars>
          <dgm:bulletEnabled val="1"/>
        </dgm:presLayoutVars>
      </dgm:prSet>
      <dgm:spPr/>
    </dgm:pt>
    <dgm:pt modelId="{E3F1D6E3-DE37-4E1B-9C26-F4A7D62E06F0}" type="pres">
      <dgm:prSet presAssocID="{0D2089FC-78AC-4A48-B127-07F5B90F4C51}" presName="sibTrans" presStyleCnt="0"/>
      <dgm:spPr/>
    </dgm:pt>
    <dgm:pt modelId="{F27D6CCA-3519-436B-AA8D-FE6DC2A02C73}" type="pres">
      <dgm:prSet presAssocID="{9FAEA177-27D0-4F5E-9BCC-ED2730E4676E}" presName="node" presStyleLbl="node1" presStyleIdx="9" presStyleCnt="13">
        <dgm:presLayoutVars>
          <dgm:bulletEnabled val="1"/>
        </dgm:presLayoutVars>
      </dgm:prSet>
      <dgm:spPr/>
    </dgm:pt>
    <dgm:pt modelId="{96E06653-DF79-45EC-8762-9496CBF3502E}" type="pres">
      <dgm:prSet presAssocID="{D4E6B68D-3390-4AC9-B1D7-6DB9B221DEF2}" presName="sibTrans" presStyleCnt="0"/>
      <dgm:spPr/>
    </dgm:pt>
    <dgm:pt modelId="{BD5268C3-B18C-4BAC-954B-53434366563B}" type="pres">
      <dgm:prSet presAssocID="{508A5C56-159A-4C38-96BF-DF0145D5C20C}" presName="node" presStyleLbl="node1" presStyleIdx="10" presStyleCnt="13">
        <dgm:presLayoutVars>
          <dgm:bulletEnabled val="1"/>
        </dgm:presLayoutVars>
      </dgm:prSet>
      <dgm:spPr/>
    </dgm:pt>
    <dgm:pt modelId="{CB4FB7A5-8641-475A-80A6-3B086D547E59}" type="pres">
      <dgm:prSet presAssocID="{179941EA-BD76-4479-BB29-6F730C450FE6}" presName="sibTrans" presStyleCnt="0"/>
      <dgm:spPr/>
    </dgm:pt>
    <dgm:pt modelId="{011B6480-3BFA-4BF4-8FCA-B0AEB9F3EA85}" type="pres">
      <dgm:prSet presAssocID="{BDEE2E5F-0CD8-4775-9835-7E87E59036C0}" presName="node" presStyleLbl="node1" presStyleIdx="11" presStyleCnt="13">
        <dgm:presLayoutVars>
          <dgm:bulletEnabled val="1"/>
        </dgm:presLayoutVars>
      </dgm:prSet>
      <dgm:spPr/>
    </dgm:pt>
    <dgm:pt modelId="{700521F0-7E2B-4BE6-BADE-2474C1C858E1}" type="pres">
      <dgm:prSet presAssocID="{A5E81241-1006-4DEB-987A-32AFC62A6137}" presName="sibTrans" presStyleCnt="0"/>
      <dgm:spPr/>
    </dgm:pt>
    <dgm:pt modelId="{EEEDBB87-3CFF-4265-8DFE-7A8D0231EA31}" type="pres">
      <dgm:prSet presAssocID="{0E5723F3-852E-4D4C-9CFF-9D9210E7867F}" presName="node" presStyleLbl="node1" presStyleIdx="12" presStyleCnt="13">
        <dgm:presLayoutVars>
          <dgm:bulletEnabled val="1"/>
        </dgm:presLayoutVars>
      </dgm:prSet>
      <dgm:spPr/>
    </dgm:pt>
  </dgm:ptLst>
  <dgm:cxnLst>
    <dgm:cxn modelId="{7ADE2E0E-0B62-499E-B91B-01BC80FEE7B4}" type="presOf" srcId="{075333EA-2256-4A14-B1E7-E2C3F2AF20CA}" destId="{8C15F2CB-20BB-4C9D-BBAB-EDB2E8DDCCF0}" srcOrd="0" destOrd="0" presId="urn:microsoft.com/office/officeart/2005/8/layout/default"/>
    <dgm:cxn modelId="{B9671210-A4C0-47A0-BBC9-22C2822236CA}" type="presOf" srcId="{9FAEA177-27D0-4F5E-9BCC-ED2730E4676E}" destId="{F27D6CCA-3519-436B-AA8D-FE6DC2A02C73}" srcOrd="0" destOrd="0" presId="urn:microsoft.com/office/officeart/2005/8/layout/default"/>
    <dgm:cxn modelId="{1EDD4111-1C72-4FC1-A9BE-788C6246DD1A}" type="presOf" srcId="{6FA57DA4-72F5-413A-ADC5-4072A59DD0C4}" destId="{CA84875E-2A84-4797-9591-C8B2A73F0BEC}" srcOrd="0" destOrd="0" presId="urn:microsoft.com/office/officeart/2005/8/layout/default"/>
    <dgm:cxn modelId="{44CFE018-1808-4A2D-AE2E-D43F793AB645}" type="presOf" srcId="{508A5C56-159A-4C38-96BF-DF0145D5C20C}" destId="{BD5268C3-B18C-4BAC-954B-53434366563B}" srcOrd="0" destOrd="0" presId="urn:microsoft.com/office/officeart/2005/8/layout/default"/>
    <dgm:cxn modelId="{9B7C6E19-0467-4A77-A0B7-5E77FE58A6C5}" type="presOf" srcId="{C33F067E-54A5-487F-9501-6A060A07C0BE}" destId="{0224D6CB-FE95-43F1-9D25-90588E7CB4FC}" srcOrd="0" destOrd="0" presId="urn:microsoft.com/office/officeart/2005/8/layout/default"/>
    <dgm:cxn modelId="{D6BA5F23-4279-46E8-A649-93BD7B4A708F}" srcId="{2E0F2A60-69A3-4687-A2AA-929C424260A1}" destId="{BDC3417F-6315-4679-AEFA-420506242D9C}" srcOrd="6" destOrd="0" parTransId="{04A060CA-F8C1-4506-B40C-AFF86B6285A9}" sibTransId="{EB953A9F-6F4B-480F-8187-0F2B8195BC09}"/>
    <dgm:cxn modelId="{C94F792F-1A94-4786-ADEE-4EAE9A5FCD00}" type="presOf" srcId="{8048F50F-FE78-4437-8816-E770B0E938A1}" destId="{4C919DA6-C362-4C3F-AE9F-4C67360D6302}" srcOrd="0" destOrd="0" presId="urn:microsoft.com/office/officeart/2005/8/layout/default"/>
    <dgm:cxn modelId="{BB973230-689A-4997-B47A-860D7AA85548}" type="presOf" srcId="{2E0F2A60-69A3-4687-A2AA-929C424260A1}" destId="{F72F4958-127A-4F08-BA9F-396B16BE4847}" srcOrd="0" destOrd="0" presId="urn:microsoft.com/office/officeart/2005/8/layout/default"/>
    <dgm:cxn modelId="{39A9AE32-2B6B-4636-A617-68ACD2CC6F66}" type="presOf" srcId="{CB17879B-2BAA-4035-B292-8B02A3F95481}" destId="{00263C17-6D14-41BA-BB41-DAE8C738B80F}" srcOrd="0" destOrd="0" presId="urn:microsoft.com/office/officeart/2005/8/layout/default"/>
    <dgm:cxn modelId="{29A11F41-5506-42F0-9402-E1D0DD7F5505}" srcId="{2E0F2A60-69A3-4687-A2AA-929C424260A1}" destId="{0E5723F3-852E-4D4C-9CFF-9D9210E7867F}" srcOrd="12" destOrd="0" parTransId="{8A21E25D-D5F9-462F-A800-30ACD8E7CDBA}" sibTransId="{A6C28951-A2B5-406A-AAC1-C08FA2AE5D0F}"/>
    <dgm:cxn modelId="{F356B341-108F-4DC8-9599-0F5C2C05A558}" srcId="{2E0F2A60-69A3-4687-A2AA-929C424260A1}" destId="{BDEE2E5F-0CD8-4775-9835-7E87E59036C0}" srcOrd="11" destOrd="0" parTransId="{6FDB8479-BA00-40F4-94C4-5DC4E7D1A4EB}" sibTransId="{A5E81241-1006-4DEB-987A-32AFC62A6137}"/>
    <dgm:cxn modelId="{8CF17843-8C42-4A66-B346-2D9CFDF15502}" type="presOf" srcId="{BDEE2E5F-0CD8-4775-9835-7E87E59036C0}" destId="{011B6480-3BFA-4BF4-8FCA-B0AEB9F3EA85}" srcOrd="0" destOrd="0" presId="urn:microsoft.com/office/officeart/2005/8/layout/default"/>
    <dgm:cxn modelId="{9E417F43-4EB1-4C1C-A514-943C1B27B2F8}" srcId="{2E0F2A60-69A3-4687-A2AA-929C424260A1}" destId="{6FA57DA4-72F5-413A-ADC5-4072A59DD0C4}" srcOrd="7" destOrd="0" parTransId="{EDD9D687-ABBE-4784-B25A-B65F029293BE}" sibTransId="{1C545BCB-393F-4DD3-B544-C1ED2D0125C8}"/>
    <dgm:cxn modelId="{FCF4794B-1F0D-4DCC-BF2A-FBD0B4B901C3}" srcId="{2E0F2A60-69A3-4687-A2AA-929C424260A1}" destId="{075333EA-2256-4A14-B1E7-E2C3F2AF20CA}" srcOrd="2" destOrd="0" parTransId="{E8E47051-2D55-407B-9F9B-5C8C3626BDA4}" sibTransId="{57B72CD4-F34A-47BB-A161-B878433A94E1}"/>
    <dgm:cxn modelId="{81F93354-4046-486A-AF5B-65A5DBB3E207}" type="presOf" srcId="{BDC3417F-6315-4679-AEFA-420506242D9C}" destId="{2B97D8D0-6174-4935-A4BF-16A11F713965}" srcOrd="0" destOrd="0" presId="urn:microsoft.com/office/officeart/2005/8/layout/default"/>
    <dgm:cxn modelId="{6311D174-43DF-4D1E-B021-6A59D9207520}" srcId="{2E0F2A60-69A3-4687-A2AA-929C424260A1}" destId="{8048F50F-FE78-4437-8816-E770B0E938A1}" srcOrd="0" destOrd="0" parTransId="{7EA4FA25-BD6F-46DA-878E-22A1FB1580D2}" sibTransId="{83822C1C-7DAF-4EB7-90AC-1EC501D3E891}"/>
    <dgm:cxn modelId="{1CCC8BAC-1D0A-4279-BC7D-340CA4F41BAD}" type="presOf" srcId="{8FBB0F3E-8723-4055-8DEB-0DBD8F74F198}" destId="{83635127-D2D9-4E1D-B4A1-292B8838546D}" srcOrd="0" destOrd="0" presId="urn:microsoft.com/office/officeart/2005/8/layout/default"/>
    <dgm:cxn modelId="{CF1AE5B0-0247-44D5-80B2-AFA67F268020}" srcId="{2E0F2A60-69A3-4687-A2AA-929C424260A1}" destId="{50E3E0B9-F6D5-4F9B-845E-5D975905F9B8}" srcOrd="5" destOrd="0" parTransId="{D2FCA5A8-C151-45C0-8AB4-7A11E68686CD}" sibTransId="{565CE943-2D7A-47EC-BA0A-204AE6A72DA0}"/>
    <dgm:cxn modelId="{6FEC75C1-4279-448C-AF3E-788A94215C93}" srcId="{2E0F2A60-69A3-4687-A2AA-929C424260A1}" destId="{CB17879B-2BAA-4035-B292-8B02A3F95481}" srcOrd="3" destOrd="0" parTransId="{93715995-1B94-4049-8733-258E53CC24CF}" sibTransId="{FEFD6C24-B07E-42F3-B7FD-4C14B954C8E1}"/>
    <dgm:cxn modelId="{494D91C6-C89F-40AE-A706-4DD2A218CEF1}" srcId="{2E0F2A60-69A3-4687-A2AA-929C424260A1}" destId="{508A5C56-159A-4C38-96BF-DF0145D5C20C}" srcOrd="10" destOrd="0" parTransId="{1D41EE0C-64B4-47A1-8755-59F084F22F25}" sibTransId="{179941EA-BD76-4479-BB29-6F730C450FE6}"/>
    <dgm:cxn modelId="{7AA2AECA-C50D-4ACF-A386-4242568FE965}" srcId="{2E0F2A60-69A3-4687-A2AA-929C424260A1}" destId="{9FAEA177-27D0-4F5E-9BCC-ED2730E4676E}" srcOrd="9" destOrd="0" parTransId="{8790913A-FB0D-44F7-ABB2-9ED6E517E975}" sibTransId="{D4E6B68D-3390-4AC9-B1D7-6DB9B221DEF2}"/>
    <dgm:cxn modelId="{4C317CDD-33F8-4F02-9CDA-F34667BADED9}" type="presOf" srcId="{50E3E0B9-F6D5-4F9B-845E-5D975905F9B8}" destId="{489A38FD-C7CC-460E-8E46-3A9DD4DC9C0C}" srcOrd="0" destOrd="0" presId="urn:microsoft.com/office/officeart/2005/8/layout/default"/>
    <dgm:cxn modelId="{C4C52DE0-4A40-46C9-9A2F-F60C4353F1AF}" srcId="{2E0F2A60-69A3-4687-A2AA-929C424260A1}" destId="{AD05A7FC-EA22-4ED8-9774-62001947BE79}" srcOrd="4" destOrd="0" parTransId="{018F67C4-116B-4965-9C0A-DD16B0CA1115}" sibTransId="{86D12D91-8E29-4D02-ADE9-84773525EA63}"/>
    <dgm:cxn modelId="{DD668EE5-3A94-4381-8C59-E369F16E258E}" type="presOf" srcId="{AD05A7FC-EA22-4ED8-9774-62001947BE79}" destId="{47E076D7-EF2B-4416-97A4-4CDD7C293CE5}" srcOrd="0" destOrd="0" presId="urn:microsoft.com/office/officeart/2005/8/layout/default"/>
    <dgm:cxn modelId="{14A6A7EB-5E1A-4961-8865-FD56E98CC68E}" type="presOf" srcId="{0E5723F3-852E-4D4C-9CFF-9D9210E7867F}" destId="{EEEDBB87-3CFF-4265-8DFE-7A8D0231EA31}" srcOrd="0" destOrd="0" presId="urn:microsoft.com/office/officeart/2005/8/layout/default"/>
    <dgm:cxn modelId="{84AF07F5-E8FE-40DF-8B82-7E4C4499C388}" srcId="{2E0F2A60-69A3-4687-A2AA-929C424260A1}" destId="{C33F067E-54A5-487F-9501-6A060A07C0BE}" srcOrd="8" destOrd="0" parTransId="{A8159B73-CC82-4E1A-8DF1-95C81C16A2E5}" sibTransId="{0D2089FC-78AC-4A48-B127-07F5B90F4C51}"/>
    <dgm:cxn modelId="{B42546FA-CDDE-4CD1-9DAB-D7FB648576EE}" srcId="{2E0F2A60-69A3-4687-A2AA-929C424260A1}" destId="{8FBB0F3E-8723-4055-8DEB-0DBD8F74F198}" srcOrd="1" destOrd="0" parTransId="{472A917B-D405-4B4B-90E9-2FF154FC19D4}" sibTransId="{EAE38F5A-6023-4C6C-B903-AE1B950273D9}"/>
    <dgm:cxn modelId="{B379A38A-ED31-4C13-AAC3-DD9569EB8168}" type="presParOf" srcId="{F72F4958-127A-4F08-BA9F-396B16BE4847}" destId="{4C919DA6-C362-4C3F-AE9F-4C67360D6302}" srcOrd="0" destOrd="0" presId="urn:microsoft.com/office/officeart/2005/8/layout/default"/>
    <dgm:cxn modelId="{9BD18F6D-48CF-41C8-911E-8C5B091FDD51}" type="presParOf" srcId="{F72F4958-127A-4F08-BA9F-396B16BE4847}" destId="{6B8AB1DE-8233-4F3F-A0A8-F9FEA4C08CD9}" srcOrd="1" destOrd="0" presId="urn:microsoft.com/office/officeart/2005/8/layout/default"/>
    <dgm:cxn modelId="{388B5803-FD01-4833-A1D8-44E385BFC850}" type="presParOf" srcId="{F72F4958-127A-4F08-BA9F-396B16BE4847}" destId="{83635127-D2D9-4E1D-B4A1-292B8838546D}" srcOrd="2" destOrd="0" presId="urn:microsoft.com/office/officeart/2005/8/layout/default"/>
    <dgm:cxn modelId="{47D6D8FB-BF5C-4763-9019-E456A19C8847}" type="presParOf" srcId="{F72F4958-127A-4F08-BA9F-396B16BE4847}" destId="{D7F241FB-89C2-40E4-8DFB-06ED1C48F7CD}" srcOrd="3" destOrd="0" presId="urn:microsoft.com/office/officeart/2005/8/layout/default"/>
    <dgm:cxn modelId="{277F19F3-0535-46FD-BA35-7056CF6188FF}" type="presParOf" srcId="{F72F4958-127A-4F08-BA9F-396B16BE4847}" destId="{8C15F2CB-20BB-4C9D-BBAB-EDB2E8DDCCF0}" srcOrd="4" destOrd="0" presId="urn:microsoft.com/office/officeart/2005/8/layout/default"/>
    <dgm:cxn modelId="{49C95C95-3B1E-4405-B474-66CCF4AC9588}" type="presParOf" srcId="{F72F4958-127A-4F08-BA9F-396B16BE4847}" destId="{50660873-8A18-42CF-9D5A-CF478F3315A5}" srcOrd="5" destOrd="0" presId="urn:microsoft.com/office/officeart/2005/8/layout/default"/>
    <dgm:cxn modelId="{293E1061-71AA-476F-BFF7-4A9F950EF03F}" type="presParOf" srcId="{F72F4958-127A-4F08-BA9F-396B16BE4847}" destId="{00263C17-6D14-41BA-BB41-DAE8C738B80F}" srcOrd="6" destOrd="0" presId="urn:microsoft.com/office/officeart/2005/8/layout/default"/>
    <dgm:cxn modelId="{333C62F4-7A99-47CE-9921-67DDE3082F56}" type="presParOf" srcId="{F72F4958-127A-4F08-BA9F-396B16BE4847}" destId="{3398109F-9976-415D-9B2F-352FC60C5CA0}" srcOrd="7" destOrd="0" presId="urn:microsoft.com/office/officeart/2005/8/layout/default"/>
    <dgm:cxn modelId="{E8777B29-5BD2-4F19-94A4-B65D70552E26}" type="presParOf" srcId="{F72F4958-127A-4F08-BA9F-396B16BE4847}" destId="{47E076D7-EF2B-4416-97A4-4CDD7C293CE5}" srcOrd="8" destOrd="0" presId="urn:microsoft.com/office/officeart/2005/8/layout/default"/>
    <dgm:cxn modelId="{2A813410-7844-4EE8-803A-A6AAE9DF79AB}" type="presParOf" srcId="{F72F4958-127A-4F08-BA9F-396B16BE4847}" destId="{AA6F074A-7E3C-4D73-A968-D0DBBC887B6D}" srcOrd="9" destOrd="0" presId="urn:microsoft.com/office/officeart/2005/8/layout/default"/>
    <dgm:cxn modelId="{F85C5DB3-04FC-420B-9AFF-A7B120523F39}" type="presParOf" srcId="{F72F4958-127A-4F08-BA9F-396B16BE4847}" destId="{489A38FD-C7CC-460E-8E46-3A9DD4DC9C0C}" srcOrd="10" destOrd="0" presId="urn:microsoft.com/office/officeart/2005/8/layout/default"/>
    <dgm:cxn modelId="{ADC2BBEB-7324-4E29-9543-B0EE0721DFC8}" type="presParOf" srcId="{F72F4958-127A-4F08-BA9F-396B16BE4847}" destId="{4D81335B-D4D2-47DB-9E86-FD331F414D64}" srcOrd="11" destOrd="0" presId="urn:microsoft.com/office/officeart/2005/8/layout/default"/>
    <dgm:cxn modelId="{6DDBB947-A22E-4EC9-A653-E717D52297DA}" type="presParOf" srcId="{F72F4958-127A-4F08-BA9F-396B16BE4847}" destId="{2B97D8D0-6174-4935-A4BF-16A11F713965}" srcOrd="12" destOrd="0" presId="urn:microsoft.com/office/officeart/2005/8/layout/default"/>
    <dgm:cxn modelId="{7E2A96B4-E4BD-49B1-BBF5-AC7AEC13B5CD}" type="presParOf" srcId="{F72F4958-127A-4F08-BA9F-396B16BE4847}" destId="{98296B14-58CF-45A9-A054-8637AD9407C5}" srcOrd="13" destOrd="0" presId="urn:microsoft.com/office/officeart/2005/8/layout/default"/>
    <dgm:cxn modelId="{2E4006D7-0B86-4F9D-A779-74FAD6664151}" type="presParOf" srcId="{F72F4958-127A-4F08-BA9F-396B16BE4847}" destId="{CA84875E-2A84-4797-9591-C8B2A73F0BEC}" srcOrd="14" destOrd="0" presId="urn:microsoft.com/office/officeart/2005/8/layout/default"/>
    <dgm:cxn modelId="{2CC61C0D-A446-4E3A-B5FD-43A690E65DAF}" type="presParOf" srcId="{F72F4958-127A-4F08-BA9F-396B16BE4847}" destId="{C387F7D6-D5D9-4AB1-A47A-9BF6AAA1FC9E}" srcOrd="15" destOrd="0" presId="urn:microsoft.com/office/officeart/2005/8/layout/default"/>
    <dgm:cxn modelId="{DE7C0BA9-5BCE-41F6-A1FA-EA865425FF89}" type="presParOf" srcId="{F72F4958-127A-4F08-BA9F-396B16BE4847}" destId="{0224D6CB-FE95-43F1-9D25-90588E7CB4FC}" srcOrd="16" destOrd="0" presId="urn:microsoft.com/office/officeart/2005/8/layout/default"/>
    <dgm:cxn modelId="{5FB6385C-8F83-45FC-91E5-0F2CF4160B59}" type="presParOf" srcId="{F72F4958-127A-4F08-BA9F-396B16BE4847}" destId="{E3F1D6E3-DE37-4E1B-9C26-F4A7D62E06F0}" srcOrd="17" destOrd="0" presId="urn:microsoft.com/office/officeart/2005/8/layout/default"/>
    <dgm:cxn modelId="{545EF75A-2386-4E00-B4C4-79E7F57F223A}" type="presParOf" srcId="{F72F4958-127A-4F08-BA9F-396B16BE4847}" destId="{F27D6CCA-3519-436B-AA8D-FE6DC2A02C73}" srcOrd="18" destOrd="0" presId="urn:microsoft.com/office/officeart/2005/8/layout/default"/>
    <dgm:cxn modelId="{A0E71DB9-B092-4F98-A799-B2AF6E610A11}" type="presParOf" srcId="{F72F4958-127A-4F08-BA9F-396B16BE4847}" destId="{96E06653-DF79-45EC-8762-9496CBF3502E}" srcOrd="19" destOrd="0" presId="urn:microsoft.com/office/officeart/2005/8/layout/default"/>
    <dgm:cxn modelId="{B4C7C836-8BA4-409A-B755-2A5754270AB8}" type="presParOf" srcId="{F72F4958-127A-4F08-BA9F-396B16BE4847}" destId="{BD5268C3-B18C-4BAC-954B-53434366563B}" srcOrd="20" destOrd="0" presId="urn:microsoft.com/office/officeart/2005/8/layout/default"/>
    <dgm:cxn modelId="{DD19FE5E-3892-48DB-81FF-45D488AE0C9A}" type="presParOf" srcId="{F72F4958-127A-4F08-BA9F-396B16BE4847}" destId="{CB4FB7A5-8641-475A-80A6-3B086D547E59}" srcOrd="21" destOrd="0" presId="urn:microsoft.com/office/officeart/2005/8/layout/default"/>
    <dgm:cxn modelId="{F9226FF9-021F-474F-A487-D29CDD7AA6F4}" type="presParOf" srcId="{F72F4958-127A-4F08-BA9F-396B16BE4847}" destId="{011B6480-3BFA-4BF4-8FCA-B0AEB9F3EA85}" srcOrd="22" destOrd="0" presId="urn:microsoft.com/office/officeart/2005/8/layout/default"/>
    <dgm:cxn modelId="{E24F5639-894D-463C-A5FB-475DEFAE8953}" type="presParOf" srcId="{F72F4958-127A-4F08-BA9F-396B16BE4847}" destId="{700521F0-7E2B-4BE6-BADE-2474C1C858E1}" srcOrd="23" destOrd="0" presId="urn:microsoft.com/office/officeart/2005/8/layout/default"/>
    <dgm:cxn modelId="{CCD202C1-6805-47C5-BC42-1A776CB7518D}" type="presParOf" srcId="{F72F4958-127A-4F08-BA9F-396B16BE4847}" destId="{EEEDBB87-3CFF-4265-8DFE-7A8D0231EA31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C4FCE8-BE97-434E-ADA8-2823CA9F9D8C}">
      <dsp:nvSpPr>
        <dsp:cNvPr id="0" name=""/>
        <dsp:cNvSpPr/>
      </dsp:nvSpPr>
      <dsp:spPr>
        <a:xfrm>
          <a:off x="0" y="54331"/>
          <a:ext cx="6666833" cy="128663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I took a data set of students which contains student details and their scores in test.</a:t>
          </a:r>
          <a:endParaRPr lang="en-US" sz="2300" kern="1200"/>
        </a:p>
      </dsp:txBody>
      <dsp:txXfrm>
        <a:off x="62808" y="117139"/>
        <a:ext cx="6541217" cy="1161018"/>
      </dsp:txXfrm>
    </dsp:sp>
    <dsp:sp modelId="{035CA7F6-0067-443D-957B-D594172C8185}">
      <dsp:nvSpPr>
        <dsp:cNvPr id="0" name=""/>
        <dsp:cNvSpPr/>
      </dsp:nvSpPr>
      <dsp:spPr>
        <a:xfrm>
          <a:off x="0" y="1407205"/>
          <a:ext cx="6666833" cy="1286634"/>
        </a:xfrm>
        <a:prstGeom prst="roundRect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The data set contains many factors like family size, time spend studying and etc.</a:t>
          </a:r>
          <a:endParaRPr lang="en-US" sz="2300" kern="1200"/>
        </a:p>
      </dsp:txBody>
      <dsp:txXfrm>
        <a:off x="62808" y="1470013"/>
        <a:ext cx="6541217" cy="1161018"/>
      </dsp:txXfrm>
    </dsp:sp>
    <dsp:sp modelId="{2DA4AA42-D12A-4A69-96DB-10BCC208173A}">
      <dsp:nvSpPr>
        <dsp:cNvPr id="0" name=""/>
        <dsp:cNvSpPr/>
      </dsp:nvSpPr>
      <dsp:spPr>
        <a:xfrm>
          <a:off x="0" y="2760080"/>
          <a:ext cx="6666833" cy="1286634"/>
        </a:xfrm>
        <a:prstGeom prst="roundRect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What I done is I analysed those attributes and done a prediction model out of it through various process.</a:t>
          </a:r>
          <a:endParaRPr lang="en-US" sz="2300" kern="1200"/>
        </a:p>
      </dsp:txBody>
      <dsp:txXfrm>
        <a:off x="62808" y="2822888"/>
        <a:ext cx="6541217" cy="1161018"/>
      </dsp:txXfrm>
    </dsp:sp>
    <dsp:sp modelId="{E76D5067-08E7-4A6C-B29B-509F3C044597}">
      <dsp:nvSpPr>
        <dsp:cNvPr id="0" name=""/>
        <dsp:cNvSpPr/>
      </dsp:nvSpPr>
      <dsp:spPr>
        <a:xfrm>
          <a:off x="0" y="4112954"/>
          <a:ext cx="6666833" cy="1286634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In this ppt I take you through the process of making a predictive model for students with their details as input.</a:t>
          </a:r>
          <a:endParaRPr lang="en-US" sz="2300" kern="1200"/>
        </a:p>
      </dsp:txBody>
      <dsp:txXfrm>
        <a:off x="62808" y="4175762"/>
        <a:ext cx="6541217" cy="1161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78240-BA2B-475E-ACAE-712E02887B59}">
      <dsp:nvSpPr>
        <dsp:cNvPr id="0" name=""/>
        <dsp:cNvSpPr/>
      </dsp:nvSpPr>
      <dsp:spPr>
        <a:xfrm>
          <a:off x="961120" y="2079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school</a:t>
          </a:r>
          <a:r>
            <a:rPr lang="en-GB" sz="1300" kern="1200"/>
            <a:t> - student's school (binary: "GP" - Gabriel Pereira or "MS" - Mousinho da Silveira)</a:t>
          </a:r>
          <a:endParaRPr lang="en-US" sz="1300" kern="1200"/>
        </a:p>
      </dsp:txBody>
      <dsp:txXfrm>
        <a:off x="961120" y="2079"/>
        <a:ext cx="2094322" cy="1256593"/>
      </dsp:txXfrm>
    </dsp:sp>
    <dsp:sp modelId="{CAB49C69-6F2F-47B2-B43A-3CD2F47C025C}">
      <dsp:nvSpPr>
        <dsp:cNvPr id="0" name=""/>
        <dsp:cNvSpPr/>
      </dsp:nvSpPr>
      <dsp:spPr>
        <a:xfrm>
          <a:off x="3264875" y="2079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sex</a:t>
          </a:r>
          <a:r>
            <a:rPr lang="en-GB" sz="1300" kern="1200"/>
            <a:t> - student's sex (binary: "F" - female or "M" - male)</a:t>
          </a:r>
          <a:endParaRPr lang="en-US" sz="1300" kern="1200"/>
        </a:p>
      </dsp:txBody>
      <dsp:txXfrm>
        <a:off x="3264875" y="2079"/>
        <a:ext cx="2094322" cy="1256593"/>
      </dsp:txXfrm>
    </dsp:sp>
    <dsp:sp modelId="{1CD98F6A-F209-4FD9-802E-A27CDA3F996B}">
      <dsp:nvSpPr>
        <dsp:cNvPr id="0" name=""/>
        <dsp:cNvSpPr/>
      </dsp:nvSpPr>
      <dsp:spPr>
        <a:xfrm>
          <a:off x="5568630" y="2079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age</a:t>
          </a:r>
          <a:r>
            <a:rPr lang="en-GB" sz="1300" kern="1200"/>
            <a:t> - student's age (numeric: from 15 to 22)</a:t>
          </a:r>
          <a:endParaRPr lang="en-US" sz="1300" kern="1200"/>
        </a:p>
      </dsp:txBody>
      <dsp:txXfrm>
        <a:off x="5568630" y="2079"/>
        <a:ext cx="2094322" cy="1256593"/>
      </dsp:txXfrm>
    </dsp:sp>
    <dsp:sp modelId="{D39EA746-A44E-40BA-BDDB-84887A557EE2}">
      <dsp:nvSpPr>
        <dsp:cNvPr id="0" name=""/>
        <dsp:cNvSpPr/>
      </dsp:nvSpPr>
      <dsp:spPr>
        <a:xfrm>
          <a:off x="7872385" y="2079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address</a:t>
          </a:r>
          <a:r>
            <a:rPr lang="en-GB" sz="1300" kern="1200"/>
            <a:t> - student's home address type (binary: "U" - urban or "R" - rural)</a:t>
          </a:r>
          <a:endParaRPr lang="en-US" sz="1300" kern="1200"/>
        </a:p>
      </dsp:txBody>
      <dsp:txXfrm>
        <a:off x="7872385" y="2079"/>
        <a:ext cx="2094322" cy="1256593"/>
      </dsp:txXfrm>
    </dsp:sp>
    <dsp:sp modelId="{3F42069C-583B-471B-AB50-CA4E63B9060D}">
      <dsp:nvSpPr>
        <dsp:cNvPr id="0" name=""/>
        <dsp:cNvSpPr/>
      </dsp:nvSpPr>
      <dsp:spPr>
        <a:xfrm>
          <a:off x="961120" y="1468105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famsize</a:t>
          </a:r>
          <a:r>
            <a:rPr lang="en-GB" sz="1300" kern="1200"/>
            <a:t> - family size (binary: "LE3" - less or equal to 3 or "GT3" - greater than 3)</a:t>
          </a:r>
          <a:endParaRPr lang="en-US" sz="1300" kern="1200"/>
        </a:p>
      </dsp:txBody>
      <dsp:txXfrm>
        <a:off x="961120" y="1468105"/>
        <a:ext cx="2094322" cy="1256593"/>
      </dsp:txXfrm>
    </dsp:sp>
    <dsp:sp modelId="{8EFFD868-F2A2-406D-AB3E-F9EADA8386C7}">
      <dsp:nvSpPr>
        <dsp:cNvPr id="0" name=""/>
        <dsp:cNvSpPr/>
      </dsp:nvSpPr>
      <dsp:spPr>
        <a:xfrm>
          <a:off x="3264875" y="1468105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Pstatus</a:t>
          </a:r>
          <a:r>
            <a:rPr lang="en-GB" sz="1300" kern="1200"/>
            <a:t> - parent's cohabitation status (binary: "T" - living together or "A" - apart)</a:t>
          </a:r>
          <a:endParaRPr lang="en-US" sz="1300" kern="1200"/>
        </a:p>
      </dsp:txBody>
      <dsp:txXfrm>
        <a:off x="3264875" y="1468105"/>
        <a:ext cx="2094322" cy="1256593"/>
      </dsp:txXfrm>
    </dsp:sp>
    <dsp:sp modelId="{0C49582E-7CCE-4E45-87A6-F7FE23E17C36}">
      <dsp:nvSpPr>
        <dsp:cNvPr id="0" name=""/>
        <dsp:cNvSpPr/>
      </dsp:nvSpPr>
      <dsp:spPr>
        <a:xfrm>
          <a:off x="5568630" y="1468105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Medu</a:t>
          </a:r>
          <a:r>
            <a:rPr lang="en-GB" sz="1300" kern="1200"/>
            <a:t> - mother's education (numeric: 0 - none,  1 - primary education (4th grade), 2 – 5th to 9th grade, 3 – secondary education or 4 – higher education)</a:t>
          </a:r>
          <a:endParaRPr lang="en-US" sz="1300" kern="1200"/>
        </a:p>
      </dsp:txBody>
      <dsp:txXfrm>
        <a:off x="5568630" y="1468105"/>
        <a:ext cx="2094322" cy="1256593"/>
      </dsp:txXfrm>
    </dsp:sp>
    <dsp:sp modelId="{80AA26E0-A77B-44BC-B7C5-C3F236A7D0EE}">
      <dsp:nvSpPr>
        <dsp:cNvPr id="0" name=""/>
        <dsp:cNvSpPr/>
      </dsp:nvSpPr>
      <dsp:spPr>
        <a:xfrm>
          <a:off x="7872385" y="1468105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Fedu</a:t>
          </a:r>
          <a:r>
            <a:rPr lang="en-GB" sz="1300" kern="1200"/>
            <a:t> - father's education (numeric: 0 - none,  1 - primary education (4th grade), 2 – 5th to 9th grade, 3 – secondary education or 4 – higher education)</a:t>
          </a:r>
          <a:endParaRPr lang="en-US" sz="1300" kern="1200"/>
        </a:p>
      </dsp:txBody>
      <dsp:txXfrm>
        <a:off x="7872385" y="1468105"/>
        <a:ext cx="2094322" cy="1256593"/>
      </dsp:txXfrm>
    </dsp:sp>
    <dsp:sp modelId="{A5150350-DB3D-451A-88E8-8CCEE3819E54}">
      <dsp:nvSpPr>
        <dsp:cNvPr id="0" name=""/>
        <dsp:cNvSpPr/>
      </dsp:nvSpPr>
      <dsp:spPr>
        <a:xfrm>
          <a:off x="3264875" y="2934131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Mjob</a:t>
          </a:r>
          <a:r>
            <a:rPr lang="en-GB" sz="1300" kern="1200"/>
            <a:t> - mother's job (nominal: "teacher", "health" care related, civil "services" (e.g. administrative or police), "at_home" or "other")</a:t>
          </a:r>
          <a:endParaRPr lang="en-US" sz="1300" kern="1200"/>
        </a:p>
      </dsp:txBody>
      <dsp:txXfrm>
        <a:off x="3264875" y="2934131"/>
        <a:ext cx="2094322" cy="1256593"/>
      </dsp:txXfrm>
    </dsp:sp>
    <dsp:sp modelId="{F10951BD-6759-41AA-8708-447C932BCA19}">
      <dsp:nvSpPr>
        <dsp:cNvPr id="0" name=""/>
        <dsp:cNvSpPr/>
      </dsp:nvSpPr>
      <dsp:spPr>
        <a:xfrm>
          <a:off x="5568630" y="2934131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Fjob</a:t>
          </a:r>
          <a:r>
            <a:rPr lang="en-GB" sz="1300" kern="1200"/>
            <a:t> - father's job (nominal: "teacher", "health" care related, civil "services" (e.g. administrative or police), "at_home" or "other")</a:t>
          </a:r>
          <a:endParaRPr lang="en-US" sz="1300" kern="1200"/>
        </a:p>
      </dsp:txBody>
      <dsp:txXfrm>
        <a:off x="5568630" y="2934131"/>
        <a:ext cx="2094322" cy="12565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FEE37-6E12-4FF5-ADC6-CC6A2DDF40BA}">
      <dsp:nvSpPr>
        <dsp:cNvPr id="0" name=""/>
        <dsp:cNvSpPr/>
      </dsp:nvSpPr>
      <dsp:spPr>
        <a:xfrm>
          <a:off x="961120" y="2079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reason</a:t>
          </a:r>
          <a:r>
            <a:rPr lang="en-GB" sz="1400" kern="1200"/>
            <a:t> - reason to choose this school (nominal: close to "home", school "reputation", "course" preference or "other")</a:t>
          </a:r>
          <a:endParaRPr lang="en-US" sz="1400" kern="1200"/>
        </a:p>
      </dsp:txBody>
      <dsp:txXfrm>
        <a:off x="961120" y="2079"/>
        <a:ext cx="2094322" cy="1256593"/>
      </dsp:txXfrm>
    </dsp:sp>
    <dsp:sp modelId="{E49DD094-A0C1-422A-91CE-70B9BB939941}">
      <dsp:nvSpPr>
        <dsp:cNvPr id="0" name=""/>
        <dsp:cNvSpPr/>
      </dsp:nvSpPr>
      <dsp:spPr>
        <a:xfrm>
          <a:off x="3264875" y="2079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guardian</a:t>
          </a:r>
          <a:r>
            <a:rPr lang="en-GB" sz="1400" kern="1200"/>
            <a:t> - student's guardian (nominal: "mother", "father" or "other")</a:t>
          </a:r>
          <a:endParaRPr lang="en-US" sz="1400" kern="1200"/>
        </a:p>
      </dsp:txBody>
      <dsp:txXfrm>
        <a:off x="3264875" y="2079"/>
        <a:ext cx="2094322" cy="1256593"/>
      </dsp:txXfrm>
    </dsp:sp>
    <dsp:sp modelId="{28F45425-AD49-4ED9-92CA-DE011F59EFA2}">
      <dsp:nvSpPr>
        <dsp:cNvPr id="0" name=""/>
        <dsp:cNvSpPr/>
      </dsp:nvSpPr>
      <dsp:spPr>
        <a:xfrm>
          <a:off x="5568630" y="2079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traveltime</a:t>
          </a:r>
          <a:r>
            <a:rPr lang="en-GB" sz="1400" kern="1200"/>
            <a:t> - home to school travel time (numeric: 1 - &lt;15 min., 2 - 15 to 30 min., 3 - 30 min. to 1 hour, or 4 - &gt;1 hour)</a:t>
          </a:r>
          <a:endParaRPr lang="en-US" sz="1400" kern="1200"/>
        </a:p>
      </dsp:txBody>
      <dsp:txXfrm>
        <a:off x="5568630" y="2079"/>
        <a:ext cx="2094322" cy="1256593"/>
      </dsp:txXfrm>
    </dsp:sp>
    <dsp:sp modelId="{4337001F-11D1-4B40-A44F-B5E5B8F0A51F}">
      <dsp:nvSpPr>
        <dsp:cNvPr id="0" name=""/>
        <dsp:cNvSpPr/>
      </dsp:nvSpPr>
      <dsp:spPr>
        <a:xfrm>
          <a:off x="7872385" y="2079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studytime</a:t>
          </a:r>
          <a:r>
            <a:rPr lang="en-GB" sz="1400" kern="1200"/>
            <a:t> - weekly study time (numeric: 1 - &lt;2 hours, 2 - 2 to 5 hours, 3 - 5 to 10 hours, or 4 - &gt;10 hours)</a:t>
          </a:r>
          <a:endParaRPr lang="en-US" sz="1400" kern="1200"/>
        </a:p>
      </dsp:txBody>
      <dsp:txXfrm>
        <a:off x="7872385" y="2079"/>
        <a:ext cx="2094322" cy="1256593"/>
      </dsp:txXfrm>
    </dsp:sp>
    <dsp:sp modelId="{0C88F74C-D85E-4476-BF62-4DEDEA711DB8}">
      <dsp:nvSpPr>
        <dsp:cNvPr id="0" name=""/>
        <dsp:cNvSpPr/>
      </dsp:nvSpPr>
      <dsp:spPr>
        <a:xfrm>
          <a:off x="961120" y="1468105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failures</a:t>
          </a:r>
          <a:r>
            <a:rPr lang="en-GB" sz="1400" kern="1200"/>
            <a:t> - number of past class failures (numeric: n if 1&lt;=n&lt;3, else 4)</a:t>
          </a:r>
          <a:endParaRPr lang="en-US" sz="1400" kern="1200"/>
        </a:p>
      </dsp:txBody>
      <dsp:txXfrm>
        <a:off x="961120" y="1468105"/>
        <a:ext cx="2094322" cy="1256593"/>
      </dsp:txXfrm>
    </dsp:sp>
    <dsp:sp modelId="{5EAD0849-A968-4CF9-97A6-3654F1ED4C82}">
      <dsp:nvSpPr>
        <dsp:cNvPr id="0" name=""/>
        <dsp:cNvSpPr/>
      </dsp:nvSpPr>
      <dsp:spPr>
        <a:xfrm>
          <a:off x="3264875" y="1468105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schoolsup</a:t>
          </a:r>
          <a:r>
            <a:rPr lang="en-GB" sz="1400" kern="1200"/>
            <a:t> - extra educational support (binary: yes or no)</a:t>
          </a:r>
          <a:endParaRPr lang="en-US" sz="1400" kern="1200"/>
        </a:p>
      </dsp:txBody>
      <dsp:txXfrm>
        <a:off x="3264875" y="1468105"/>
        <a:ext cx="2094322" cy="1256593"/>
      </dsp:txXfrm>
    </dsp:sp>
    <dsp:sp modelId="{BB6DDD06-76BD-4234-B797-03BF5261DF80}">
      <dsp:nvSpPr>
        <dsp:cNvPr id="0" name=""/>
        <dsp:cNvSpPr/>
      </dsp:nvSpPr>
      <dsp:spPr>
        <a:xfrm>
          <a:off x="5568630" y="1468105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famsup</a:t>
          </a:r>
          <a:r>
            <a:rPr lang="en-GB" sz="1400" kern="1200"/>
            <a:t> - family educational support (binary: yes or no)</a:t>
          </a:r>
          <a:endParaRPr lang="en-US" sz="1400" kern="1200"/>
        </a:p>
      </dsp:txBody>
      <dsp:txXfrm>
        <a:off x="5568630" y="1468105"/>
        <a:ext cx="2094322" cy="1256593"/>
      </dsp:txXfrm>
    </dsp:sp>
    <dsp:sp modelId="{B81C22A4-C043-4B32-AA13-64843F578BEA}">
      <dsp:nvSpPr>
        <dsp:cNvPr id="0" name=""/>
        <dsp:cNvSpPr/>
      </dsp:nvSpPr>
      <dsp:spPr>
        <a:xfrm>
          <a:off x="7872385" y="1468105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paid</a:t>
          </a:r>
          <a:r>
            <a:rPr lang="en-GB" sz="1400" kern="1200"/>
            <a:t> - extra paid classes within the course subject (Math or Portuguese) (binary: yes or no)</a:t>
          </a:r>
          <a:endParaRPr lang="en-US" sz="1400" kern="1200"/>
        </a:p>
      </dsp:txBody>
      <dsp:txXfrm>
        <a:off x="7872385" y="1468105"/>
        <a:ext cx="2094322" cy="1256593"/>
      </dsp:txXfrm>
    </dsp:sp>
    <dsp:sp modelId="{343F4A60-D398-4D73-914B-3BD6088378C0}">
      <dsp:nvSpPr>
        <dsp:cNvPr id="0" name=""/>
        <dsp:cNvSpPr/>
      </dsp:nvSpPr>
      <dsp:spPr>
        <a:xfrm>
          <a:off x="3264875" y="2934131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activities</a:t>
          </a:r>
          <a:r>
            <a:rPr lang="en-GB" sz="1400" kern="1200"/>
            <a:t> - extra-curricular activities (binary: yes or no)</a:t>
          </a:r>
          <a:endParaRPr lang="en-US" sz="1400" kern="1200"/>
        </a:p>
      </dsp:txBody>
      <dsp:txXfrm>
        <a:off x="3264875" y="2934131"/>
        <a:ext cx="2094322" cy="1256593"/>
      </dsp:txXfrm>
    </dsp:sp>
    <dsp:sp modelId="{D53E2DB9-0611-41C6-B613-08EBF53EF602}">
      <dsp:nvSpPr>
        <dsp:cNvPr id="0" name=""/>
        <dsp:cNvSpPr/>
      </dsp:nvSpPr>
      <dsp:spPr>
        <a:xfrm>
          <a:off x="5568630" y="2934131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nursery</a:t>
          </a:r>
          <a:r>
            <a:rPr lang="en-GB" sz="1400" kern="1200"/>
            <a:t> - attended nursery school (binary: yes or no)</a:t>
          </a:r>
          <a:endParaRPr lang="en-US" sz="1400" kern="1200"/>
        </a:p>
      </dsp:txBody>
      <dsp:txXfrm>
        <a:off x="5568630" y="2934131"/>
        <a:ext cx="2094322" cy="12565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19DA6-C362-4C3F-AE9F-4C67360D6302}">
      <dsp:nvSpPr>
        <dsp:cNvPr id="0" name=""/>
        <dsp:cNvSpPr/>
      </dsp:nvSpPr>
      <dsp:spPr>
        <a:xfrm>
          <a:off x="3735" y="74113"/>
          <a:ext cx="2022288" cy="1213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higher</a:t>
          </a:r>
          <a:r>
            <a:rPr lang="en-GB" sz="1600" kern="1200"/>
            <a:t> - wants to take higher education (binary: yes or no)</a:t>
          </a:r>
          <a:endParaRPr lang="en-US" sz="1600" kern="1200"/>
        </a:p>
      </dsp:txBody>
      <dsp:txXfrm>
        <a:off x="3735" y="74113"/>
        <a:ext cx="2022288" cy="1213373"/>
      </dsp:txXfrm>
    </dsp:sp>
    <dsp:sp modelId="{83635127-D2D9-4E1D-B4A1-292B8838546D}">
      <dsp:nvSpPr>
        <dsp:cNvPr id="0" name=""/>
        <dsp:cNvSpPr/>
      </dsp:nvSpPr>
      <dsp:spPr>
        <a:xfrm>
          <a:off x="2228252" y="74113"/>
          <a:ext cx="2022288" cy="12133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internet</a:t>
          </a:r>
          <a:r>
            <a:rPr lang="en-GB" sz="1600" kern="1200"/>
            <a:t> - Internet access at home (binary: yes or no)</a:t>
          </a:r>
          <a:endParaRPr lang="en-US" sz="1600" kern="1200"/>
        </a:p>
      </dsp:txBody>
      <dsp:txXfrm>
        <a:off x="2228252" y="74113"/>
        <a:ext cx="2022288" cy="1213373"/>
      </dsp:txXfrm>
    </dsp:sp>
    <dsp:sp modelId="{8C15F2CB-20BB-4C9D-BBAB-EDB2E8DDCCF0}">
      <dsp:nvSpPr>
        <dsp:cNvPr id="0" name=""/>
        <dsp:cNvSpPr/>
      </dsp:nvSpPr>
      <dsp:spPr>
        <a:xfrm>
          <a:off x="4452770" y="74113"/>
          <a:ext cx="2022288" cy="12133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romantic</a:t>
          </a:r>
          <a:r>
            <a:rPr lang="en-GB" sz="1600" kern="1200"/>
            <a:t> - with a romantic relationship (binary: yes or no)</a:t>
          </a:r>
          <a:endParaRPr lang="en-US" sz="1600" kern="1200"/>
        </a:p>
      </dsp:txBody>
      <dsp:txXfrm>
        <a:off x="4452770" y="74113"/>
        <a:ext cx="2022288" cy="1213373"/>
      </dsp:txXfrm>
    </dsp:sp>
    <dsp:sp modelId="{00263C17-6D14-41BA-BB41-DAE8C738B80F}">
      <dsp:nvSpPr>
        <dsp:cNvPr id="0" name=""/>
        <dsp:cNvSpPr/>
      </dsp:nvSpPr>
      <dsp:spPr>
        <a:xfrm>
          <a:off x="6677287" y="74113"/>
          <a:ext cx="2022288" cy="12133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famrel</a:t>
          </a:r>
          <a:r>
            <a:rPr lang="en-GB" sz="1600" kern="1200"/>
            <a:t> - quality of family relationships (numeric: from 1 - very bad to 5 - excellent)</a:t>
          </a:r>
          <a:endParaRPr lang="en-US" sz="1600" kern="1200"/>
        </a:p>
      </dsp:txBody>
      <dsp:txXfrm>
        <a:off x="6677287" y="74113"/>
        <a:ext cx="2022288" cy="1213373"/>
      </dsp:txXfrm>
    </dsp:sp>
    <dsp:sp modelId="{47E076D7-EF2B-4416-97A4-4CDD7C293CE5}">
      <dsp:nvSpPr>
        <dsp:cNvPr id="0" name=""/>
        <dsp:cNvSpPr/>
      </dsp:nvSpPr>
      <dsp:spPr>
        <a:xfrm>
          <a:off x="8901805" y="74113"/>
          <a:ext cx="2022288" cy="121337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freetime</a:t>
          </a:r>
          <a:r>
            <a:rPr lang="en-GB" sz="1600" kern="1200"/>
            <a:t> - free time after school (numeric: from 1 - very low to 5 - very high)</a:t>
          </a:r>
          <a:endParaRPr lang="en-US" sz="1600" kern="1200"/>
        </a:p>
      </dsp:txBody>
      <dsp:txXfrm>
        <a:off x="8901805" y="74113"/>
        <a:ext cx="2022288" cy="1213373"/>
      </dsp:txXfrm>
    </dsp:sp>
    <dsp:sp modelId="{489A38FD-C7CC-460E-8E46-3A9DD4DC9C0C}">
      <dsp:nvSpPr>
        <dsp:cNvPr id="0" name=""/>
        <dsp:cNvSpPr/>
      </dsp:nvSpPr>
      <dsp:spPr>
        <a:xfrm>
          <a:off x="3735" y="1489715"/>
          <a:ext cx="2022288" cy="1213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goout</a:t>
          </a:r>
          <a:r>
            <a:rPr lang="en-GB" sz="1600" kern="1200"/>
            <a:t> - going out with friends (numeric: from 1 - very low to 5 - very high)</a:t>
          </a:r>
          <a:endParaRPr lang="en-US" sz="1600" kern="1200"/>
        </a:p>
      </dsp:txBody>
      <dsp:txXfrm>
        <a:off x="3735" y="1489715"/>
        <a:ext cx="2022288" cy="1213373"/>
      </dsp:txXfrm>
    </dsp:sp>
    <dsp:sp modelId="{2B97D8D0-6174-4935-A4BF-16A11F713965}">
      <dsp:nvSpPr>
        <dsp:cNvPr id="0" name=""/>
        <dsp:cNvSpPr/>
      </dsp:nvSpPr>
      <dsp:spPr>
        <a:xfrm>
          <a:off x="2228252" y="1489715"/>
          <a:ext cx="2022288" cy="12133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Dalc</a:t>
          </a:r>
          <a:r>
            <a:rPr lang="en-GB" sz="1600" kern="1200"/>
            <a:t> - workday alcohol consumption (numeric: from 1 - very low to 5 - very high)</a:t>
          </a:r>
          <a:endParaRPr lang="en-US" sz="1600" kern="1200"/>
        </a:p>
      </dsp:txBody>
      <dsp:txXfrm>
        <a:off x="2228252" y="1489715"/>
        <a:ext cx="2022288" cy="1213373"/>
      </dsp:txXfrm>
    </dsp:sp>
    <dsp:sp modelId="{CA84875E-2A84-4797-9591-C8B2A73F0BEC}">
      <dsp:nvSpPr>
        <dsp:cNvPr id="0" name=""/>
        <dsp:cNvSpPr/>
      </dsp:nvSpPr>
      <dsp:spPr>
        <a:xfrm>
          <a:off x="4452770" y="1489715"/>
          <a:ext cx="2022288" cy="12133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Walc</a:t>
          </a:r>
          <a:r>
            <a:rPr lang="en-GB" sz="1600" kern="1200"/>
            <a:t> - weekend alcohol consumption (numeric: from 1 - very low to 5 - very high)</a:t>
          </a:r>
          <a:endParaRPr lang="en-US" sz="1600" kern="1200"/>
        </a:p>
      </dsp:txBody>
      <dsp:txXfrm>
        <a:off x="4452770" y="1489715"/>
        <a:ext cx="2022288" cy="1213373"/>
      </dsp:txXfrm>
    </dsp:sp>
    <dsp:sp modelId="{0224D6CB-FE95-43F1-9D25-90588E7CB4FC}">
      <dsp:nvSpPr>
        <dsp:cNvPr id="0" name=""/>
        <dsp:cNvSpPr/>
      </dsp:nvSpPr>
      <dsp:spPr>
        <a:xfrm>
          <a:off x="6677287" y="1489715"/>
          <a:ext cx="2022288" cy="12133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health</a:t>
          </a:r>
          <a:r>
            <a:rPr lang="en-GB" sz="1600" kern="1200"/>
            <a:t> - current health status (numeric: from 1 - very bad to 5 - very good)</a:t>
          </a:r>
          <a:endParaRPr lang="en-US" sz="1600" kern="1200"/>
        </a:p>
      </dsp:txBody>
      <dsp:txXfrm>
        <a:off x="6677287" y="1489715"/>
        <a:ext cx="2022288" cy="1213373"/>
      </dsp:txXfrm>
    </dsp:sp>
    <dsp:sp modelId="{F27D6CCA-3519-436B-AA8D-FE6DC2A02C73}">
      <dsp:nvSpPr>
        <dsp:cNvPr id="0" name=""/>
        <dsp:cNvSpPr/>
      </dsp:nvSpPr>
      <dsp:spPr>
        <a:xfrm>
          <a:off x="8901805" y="1489715"/>
          <a:ext cx="2022288" cy="121337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absences</a:t>
          </a:r>
          <a:r>
            <a:rPr lang="en-GB" sz="1600" kern="1200"/>
            <a:t> - number of school absences (numeric: from 0 to 93)</a:t>
          </a:r>
          <a:endParaRPr lang="en-US" sz="1600" kern="1200"/>
        </a:p>
      </dsp:txBody>
      <dsp:txXfrm>
        <a:off x="8901805" y="1489715"/>
        <a:ext cx="2022288" cy="1213373"/>
      </dsp:txXfrm>
    </dsp:sp>
    <dsp:sp modelId="{BD5268C3-B18C-4BAC-954B-53434366563B}">
      <dsp:nvSpPr>
        <dsp:cNvPr id="0" name=""/>
        <dsp:cNvSpPr/>
      </dsp:nvSpPr>
      <dsp:spPr>
        <a:xfrm>
          <a:off x="2228252" y="2905317"/>
          <a:ext cx="2022288" cy="1213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G1</a:t>
          </a:r>
          <a:r>
            <a:rPr lang="en-GB" sz="1600" kern="1200"/>
            <a:t> - first period grade (numeric: from 0 to 20)</a:t>
          </a:r>
          <a:endParaRPr lang="en-US" sz="1600" kern="1200"/>
        </a:p>
      </dsp:txBody>
      <dsp:txXfrm>
        <a:off x="2228252" y="2905317"/>
        <a:ext cx="2022288" cy="1213373"/>
      </dsp:txXfrm>
    </dsp:sp>
    <dsp:sp modelId="{011B6480-3BFA-4BF4-8FCA-B0AEB9F3EA85}">
      <dsp:nvSpPr>
        <dsp:cNvPr id="0" name=""/>
        <dsp:cNvSpPr/>
      </dsp:nvSpPr>
      <dsp:spPr>
        <a:xfrm>
          <a:off x="4452770" y="2905317"/>
          <a:ext cx="2022288" cy="12133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G2</a:t>
          </a:r>
          <a:r>
            <a:rPr lang="en-GB" sz="1600" kern="1200"/>
            <a:t> - second period grade (numeric: from 0 to 20)</a:t>
          </a:r>
          <a:endParaRPr lang="en-US" sz="1600" kern="1200"/>
        </a:p>
      </dsp:txBody>
      <dsp:txXfrm>
        <a:off x="4452770" y="2905317"/>
        <a:ext cx="2022288" cy="1213373"/>
      </dsp:txXfrm>
    </dsp:sp>
    <dsp:sp modelId="{EEEDBB87-3CFF-4265-8DFE-7A8D0231EA31}">
      <dsp:nvSpPr>
        <dsp:cNvPr id="0" name=""/>
        <dsp:cNvSpPr/>
      </dsp:nvSpPr>
      <dsp:spPr>
        <a:xfrm>
          <a:off x="6677287" y="2905317"/>
          <a:ext cx="2022288" cy="12133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G3</a:t>
          </a:r>
          <a:r>
            <a:rPr lang="en-GB" sz="1600" kern="1200"/>
            <a:t> - final grade (numeric: from 0 to 20, output target)</a:t>
          </a:r>
          <a:endParaRPr lang="en-US" sz="1600" kern="1200"/>
        </a:p>
      </dsp:txBody>
      <dsp:txXfrm>
        <a:off x="6677287" y="2905317"/>
        <a:ext cx="2022288" cy="1213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E43EE-8888-4C5A-AE43-37B0DD3E4B7D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566DC-4BE3-4634-BA63-63DB476AF9E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496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566DC-4BE3-4634-BA63-63DB476AF9E0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7132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566DC-4BE3-4634-BA63-63DB476AF9E0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119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470F-1435-47EB-B943-04C1C0B8C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E6663-E11A-4458-AAA5-42293EAA6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27F17-91F0-4247-9C93-FAB3C17E8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53C79-92FF-4B57-9580-9588E68C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3756D-A5B0-4E77-B0BE-1D6E43B3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759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CB52-80EA-4236-A18E-2CED373C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CC733-8EDD-4CCA-9DEA-A69FF7598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A2031-9AD3-49A1-B5D1-AB1E4671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DD5FC-F896-4AC2-BDD6-48923551B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7120E-7273-4FB2-86FB-B5BBBD1F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788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34B9-6562-4C95-8D84-A02672A4E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42A80-3BC5-4E37-9C74-5BD39C354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E16A7-EFFB-4F88-A5D5-95247F801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D3E84-A3A0-470D-BB20-DC25FE34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80702-492A-4678-B392-461B3B50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9779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634F2-4C6D-4123-BF8F-56EC992A0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B5CC-E7BE-44F1-9084-F73540DC7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49B1C-F1A6-44AA-B438-020BD7475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421A5-86AF-42AD-AF9E-0A387D6CF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65DF8-6214-4763-9C22-424690CF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F5E5B-678D-450B-9B55-052845E8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501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CACA-14E6-4BDF-8D05-740B0CBAD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BE741-BFC0-467A-8412-B34804BBA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12A13-7A92-4035-B840-EC55BA32F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6048CA-6463-4C32-95E6-C72F386B4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1A04B-5569-4E70-BC80-1DF50D3DD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227C94-66A5-47EE-84F4-ED463EEC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AAADD0-361A-4BB2-96E7-5F423BAB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0C54B-125B-4CE9-8D97-873F84AE3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6993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76F0-12FF-4BC3-86DB-EDF205719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40D3E-5217-4327-B0DA-114491AE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1D1647-9449-4186-B59E-6D885C50A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DC448-C93A-4C18-A12E-57E240AC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008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1105D3-41A3-4AE8-9010-D5C60D103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5A8E94-7021-416B-A8AB-E4118AECE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6FE8D-705E-47D8-9384-2CC4E1C1C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005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CA1AD-A3B4-4909-9D5D-504CFE32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DE89-25F8-4942-8DA6-52F08ED98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FCE23-CC9B-4B7B-AE6F-9E2785497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1DFDE-917F-49E2-9448-6C772C397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96984-CFE4-407B-93FE-DA53E927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6E3EB-F776-4337-AE58-8C9C09DD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027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A4D8B-179A-4925-914C-BF2B16A1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627DF-5E90-4F05-AF17-E5AAE8B42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EDD0F-15CD-4907-A82A-F035E641E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C96BA-D193-4394-A223-3AFFFAB4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86D5F-CE51-463B-8861-C0B20F85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53E68-88CD-433D-9667-2A42E375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957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45F2D-B6F2-40C8-95DC-DB894CEF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A0FB2-49BD-4355-9EE2-367248E30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6AC58-61C0-4555-966F-E33D9B05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510C8-8163-49A7-82CD-B6A6BAD5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B1424-EDFA-4F22-939C-01C7AF38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234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E13874-3629-4143-93D5-CBB7EBA3A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4C47E-574B-450C-8EC3-B73226455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A8941-281D-4D4C-9968-7C37551FA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DB9A1-CCA8-4161-A05D-DF53F7F7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8308E-A2C9-4B7D-809B-0E7B6062E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364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76CB13-1B47-4B02-BF24-6326883E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C494B-92F7-4B64-87B5-7A20379FC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CCB63-F91C-4AE4-8811-F6A000A6E0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15171-417C-464A-9E37-1EFEDCEF931C}" type="datetimeFigureOut">
              <a:rPr lang="en-SG" smtClean="0"/>
              <a:t>11/9/2025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3F9A7-2247-4235-BD6E-D0C019E3F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FB1AC-0B50-4709-A9C8-F28E5164A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CC9FD-5C19-4D26-AF16-330EBBFA6D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747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043DF-5444-42F9-9153-BB92C00F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IN" sz="10600"/>
              <a:t>Altair Data Science Contest</a:t>
            </a:r>
            <a:endParaRPr lang="en-SG" sz="10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C35CD-28E5-480C-983A-CBA70F0EA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IN"/>
              <a:t>By: Mithun V R</a:t>
            </a:r>
            <a:endParaRPr lang="en-US"/>
          </a:p>
          <a:p>
            <a:pPr algn="l"/>
            <a:r>
              <a:rPr lang="en-IN"/>
              <a:t>  3</a:t>
            </a:r>
            <a:r>
              <a:rPr lang="en-IN" baseline="30000"/>
              <a:t>rd</a:t>
            </a:r>
            <a:r>
              <a:rPr lang="en-IN"/>
              <a:t> Year </a:t>
            </a:r>
            <a:r>
              <a:rPr lang="en-IN" err="1"/>
              <a:t>Btech</a:t>
            </a:r>
            <a:r>
              <a:rPr lang="en-IN"/>
              <a:t> CSE Student</a:t>
            </a:r>
            <a:br>
              <a:rPr lang="en-IN"/>
            </a:br>
            <a:r>
              <a:rPr lang="en-IN"/>
              <a:t>		       </a:t>
            </a:r>
            <a:endParaRPr lang="en-IN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787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AC1E0-DE10-4C38-9E79-B3B9ABEC6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What I Analysed?</a:t>
            </a:r>
            <a:endParaRPr lang="en-SG" sz="4000">
              <a:solidFill>
                <a:srgbClr val="FFFFFF"/>
              </a:solidFill>
            </a:endParaRP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F6AD52A4-1FB7-C036-754B-2671BD795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829523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343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12E46-6CC2-48DD-B58D-06D5FB821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Attributes Definition</a:t>
            </a:r>
            <a:endParaRPr lang="en-SG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0EC9A9-0C4D-B8B4-A178-2546BFAD81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51211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178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E8E8E-0676-47E7-9036-9C03C113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Attributes Definition</a:t>
            </a:r>
            <a:endParaRPr lang="en-SG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4A6A30-BA7D-85BE-84D3-488D5B6D3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56306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8131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F893B-94DE-4D82-B653-AD7245967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Attribute Definition</a:t>
            </a:r>
            <a:endParaRPr lang="en-SG" sz="4000">
              <a:solidFill>
                <a:srgbClr val="FFFFFF"/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F456739-F8C1-5C50-529C-D73E26FB34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200531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0994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02159-B8AA-4A1A-B249-C45BC40F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IN" sz="4800"/>
              <a:t>Lets Start with EDA</a:t>
            </a:r>
            <a:endParaRPr lang="en-SG" sz="480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CC7F5-86E3-4E21-8E23-06081C28D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200"/>
              <a:t>Summary Stats:</a:t>
            </a:r>
          </a:p>
          <a:p>
            <a:pPr marL="0" indent="0">
              <a:buNone/>
            </a:pPr>
            <a:endParaRPr lang="en-SG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5B8041-5EAB-43DE-88C9-EE5E2DA0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88" y="2290936"/>
            <a:ext cx="9427031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7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27E60-7E0A-4BD5-AD62-17C3B24AF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2309"/>
            <a:ext cx="10515600" cy="58146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dirty="0"/>
              <a:t>Summary Stats:</a:t>
            </a:r>
            <a:endParaRPr lang="en-US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55967C-176E-4B58-BCF7-C90B3454D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8968"/>
            <a:ext cx="10737320" cy="456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46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46837A-EC50-44B7-97B4-A3DF1055388B}"/>
              </a:ext>
            </a:extLst>
          </p:cNvPr>
          <p:cNvSpPr txBox="1"/>
          <p:nvPr/>
        </p:nvSpPr>
        <p:spPr>
          <a:xfrm>
            <a:off x="793630" y="664234"/>
            <a:ext cx="473590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 dirty="0"/>
              <a:t>Summary Stats</a:t>
            </a:r>
            <a:endParaRPr lang="en-SG" sz="28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5593C6-2925-4C10-A12C-196E0FD64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6" y="1310232"/>
            <a:ext cx="11398370" cy="476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2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A495E7-7500-4B8A-ABC6-C59BEF042C40}"/>
              </a:ext>
            </a:extLst>
          </p:cNvPr>
          <p:cNvSpPr txBox="1"/>
          <p:nvPr/>
        </p:nvSpPr>
        <p:spPr>
          <a:xfrm>
            <a:off x="836762" y="517585"/>
            <a:ext cx="3183147" cy="534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Summary Stats</a:t>
            </a:r>
            <a:endParaRPr lang="en-SG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C2BE67-399C-4353-A0C2-A36DBAB37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2" y="1064527"/>
            <a:ext cx="11268974" cy="472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28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FE20B-EB55-4F35-81A4-2E70503ED680}"/>
              </a:ext>
            </a:extLst>
          </p:cNvPr>
          <p:cNvSpPr txBox="1"/>
          <p:nvPr/>
        </p:nvSpPr>
        <p:spPr>
          <a:xfrm>
            <a:off x="690113" y="500332"/>
            <a:ext cx="4589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Summary Stats</a:t>
            </a:r>
            <a:endParaRPr lang="en-SG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A04B5-A7F5-4FC1-BAEF-0F0AD058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51" y="1023553"/>
            <a:ext cx="9463177" cy="39155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98C0D6-AD0E-4270-8FC7-800D55C4E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13" y="4902576"/>
            <a:ext cx="9540815" cy="186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3B38-6BDC-4770-9E69-370272EB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New Attribute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8F07C-E0CB-474A-8930-BB588619A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G3 score is greater than 10 we consider the student pass else fail</a:t>
            </a:r>
            <a:r>
              <a:rPr lang="en-SG" dirty="0"/>
              <a:t>.</a:t>
            </a:r>
          </a:p>
          <a:p>
            <a:r>
              <a:rPr lang="en-SG" dirty="0"/>
              <a:t>0 indicates the student failed and 1 indicates the student passed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DD380-F2E3-460E-9E0B-7600D0228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23274"/>
            <a:ext cx="10515600" cy="150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88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9EB19-F22A-447B-BD6E-DE57113F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Dataset Summary – Student Performance</a:t>
            </a:r>
            <a:endParaRPr lang="en-S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A2DBE-15F2-48A8-B2A4-0EE49E92B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1900"/>
              <a:t>Size: 395 student records × 33 attributes</a:t>
            </a:r>
          </a:p>
          <a:p>
            <a:r>
              <a:rPr lang="en-GB" sz="1900"/>
              <a:t>Target Variable:</a:t>
            </a:r>
          </a:p>
          <a:p>
            <a:r>
              <a:rPr lang="en-GB" sz="1900"/>
              <a:t>G3 (final grade, range: 0–20)</a:t>
            </a:r>
          </a:p>
          <a:p>
            <a:r>
              <a:rPr lang="en-GB" sz="1900"/>
              <a:t>Pass (derived label: 1 = pass, 0 = fail, based on G3)</a:t>
            </a:r>
          </a:p>
          <a:p>
            <a:r>
              <a:rPr lang="en-GB" sz="1900"/>
              <a:t>Class balance: ~53% pass, ~47% fail → fairly balanced</a:t>
            </a:r>
          </a:p>
          <a:p>
            <a:r>
              <a:rPr lang="en-SG" sz="1900" b="1"/>
              <a:t>Attribute Types:</a:t>
            </a:r>
          </a:p>
          <a:p>
            <a:pPr lvl="1"/>
            <a:r>
              <a:rPr lang="en-GB" sz="1900" b="1"/>
              <a:t>Numeric (continuous/ordinal):</a:t>
            </a:r>
            <a:r>
              <a:rPr lang="en-GB" sz="1900"/>
              <a:t> age, study time, travel time, failures, absences, alcohol consumption (workdays/weekends), health, family relation quality, free time, going out, grades (G1, G2, G3).</a:t>
            </a:r>
          </a:p>
          <a:p>
            <a:pPr marL="457200" lvl="1" indent="0">
              <a:buNone/>
            </a:pPr>
            <a:endParaRPr lang="en-GB" sz="1900"/>
          </a:p>
          <a:p>
            <a:pPr lvl="1"/>
            <a:r>
              <a:rPr lang="en-GB" sz="1900" b="1"/>
              <a:t>Categorical (nominal): </a:t>
            </a:r>
            <a:r>
              <a:rPr lang="en-GB" sz="1900"/>
              <a:t>school, sex, address (urban/rural), family size, parent status, parental education/job, reason for school choice, guardian, extracurricular activities, internet access, romantic relationship, higher education intention, school/family support</a:t>
            </a:r>
            <a:endParaRPr lang="en-SG" sz="1900"/>
          </a:p>
        </p:txBody>
      </p:sp>
    </p:spTree>
    <p:extLst>
      <p:ext uri="{BB962C8B-B14F-4D97-AF65-F5344CB8AC3E}">
        <p14:creationId xmlns:p14="http://schemas.microsoft.com/office/powerpoint/2010/main" val="2495826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BDE9-F6A3-425A-987F-88AC5077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Dataset Summary – Student Performance</a:t>
            </a:r>
            <a:endParaRPr lang="en-S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F4A4E-4029-4798-8DF2-B0C2DA4A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SG" sz="2000" b="1"/>
              <a:t>Key Statistics:</a:t>
            </a:r>
          </a:p>
          <a:p>
            <a:pPr lvl="1"/>
            <a:r>
              <a:rPr lang="en-GB" sz="2000"/>
              <a:t>Age: Mean ~16.7 (range: 15–22 years)</a:t>
            </a:r>
          </a:p>
          <a:p>
            <a:pPr lvl="1"/>
            <a:r>
              <a:rPr lang="en-GB" sz="2000"/>
              <a:t>Grades:</a:t>
            </a:r>
          </a:p>
          <a:p>
            <a:pPr lvl="2"/>
            <a:r>
              <a:rPr lang="en-GB" dirty="0"/>
              <a:t>G1 (first period): Mean ~10.9 / 20</a:t>
            </a:r>
          </a:p>
          <a:p>
            <a:pPr lvl="2"/>
            <a:r>
              <a:rPr lang="en-GB" dirty="0"/>
              <a:t>G2 (second period): Mean ~10.7 / 20</a:t>
            </a:r>
          </a:p>
          <a:p>
            <a:pPr lvl="2"/>
            <a:r>
              <a:rPr lang="en-GB" dirty="0"/>
              <a:t>G3 (final): Mean ~10.4 / 20</a:t>
            </a:r>
          </a:p>
          <a:p>
            <a:pPr lvl="1"/>
            <a:r>
              <a:rPr lang="en-GB" sz="2000"/>
              <a:t>Absences: Mean ~5.7, but highly skewed (max = 75)</a:t>
            </a:r>
          </a:p>
          <a:p>
            <a:pPr lvl="1"/>
            <a:r>
              <a:rPr lang="en-GB" sz="2000"/>
              <a:t>Failures: Most students have 0 failures; max recorded = 3</a:t>
            </a:r>
          </a:p>
          <a:p>
            <a:pPr lvl="1"/>
            <a:r>
              <a:rPr lang="en-GB" sz="2000"/>
              <a:t>Parental education (Medu, Fedu): Averages around “high school level” (2–3 on scale 0–4)</a:t>
            </a:r>
          </a:p>
          <a:p>
            <a:pPr lvl="1"/>
            <a:r>
              <a:rPr lang="en-GB" sz="2000"/>
              <a:t>Supports:</a:t>
            </a:r>
          </a:p>
          <a:p>
            <a:pPr lvl="2"/>
            <a:r>
              <a:rPr lang="en-GB" dirty="0"/>
              <a:t>School support: 51 yes vs 344 no (rare)</a:t>
            </a:r>
          </a:p>
          <a:p>
            <a:pPr lvl="2"/>
            <a:r>
              <a:rPr lang="en-GB" dirty="0"/>
              <a:t>Family support: 242 yes vs 153 no (balanced)</a:t>
            </a:r>
          </a:p>
          <a:p>
            <a:pPr lvl="1"/>
            <a:r>
              <a:rPr lang="en-GB" sz="2000"/>
              <a:t>Internet: Majority have internet (329 yes vs 66 no)</a:t>
            </a:r>
          </a:p>
          <a:p>
            <a:pPr lvl="1"/>
            <a:r>
              <a:rPr lang="en-GB" sz="2000"/>
              <a:t>Romantic relationship: 132 yes vs 263 no</a:t>
            </a:r>
          </a:p>
          <a:p>
            <a:pPr marL="457200" lvl="1" indent="0">
              <a:buNone/>
            </a:pP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297072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E7D0A-AB86-4F48-8B45-346B404B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Dataset Summary – Student Performance</a:t>
            </a:r>
            <a:endParaRPr lang="en-S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F8179-BB2C-427F-9F0C-31EC8F7AD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/>
              <a:t>Observations:</a:t>
            </a:r>
            <a:endParaRPr lang="en-GB" sz="2000"/>
          </a:p>
          <a:p>
            <a:pPr marL="457200" lvl="1" indent="0">
              <a:buNone/>
            </a:pPr>
            <a:r>
              <a:rPr lang="en-GB" sz="2000" b="1"/>
              <a:t>Dataset is clean</a:t>
            </a:r>
            <a:r>
              <a:rPr lang="en-GB" sz="2000"/>
              <a:t>: no missing values.</a:t>
            </a:r>
          </a:p>
          <a:p>
            <a:pPr marL="457200" lvl="1" indent="0">
              <a:buNone/>
            </a:pPr>
            <a:r>
              <a:rPr lang="en-GB" sz="2000"/>
              <a:t>Some attributes are imbalanced (e.g., higher education = almost all yes, school support = mostly no).</a:t>
            </a:r>
          </a:p>
          <a:p>
            <a:pPr marL="457200" lvl="1" indent="0">
              <a:buNone/>
            </a:pPr>
            <a:r>
              <a:rPr lang="en-GB" sz="2000"/>
              <a:t>Some features have outliers/skewness (absences, alcohol consumption).</a:t>
            </a:r>
          </a:p>
          <a:p>
            <a:pPr marL="457200" lvl="1" indent="0">
              <a:buNone/>
            </a:pPr>
            <a:r>
              <a:rPr lang="en-GB" sz="2000"/>
              <a:t>Target variable (Pass/Fail) is balanced → good for modeling.</a:t>
            </a: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1449456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8D88A-40E7-41D6-B0FF-D54C8489A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CA3B20-BCDF-48FC-8A02-C2BFC469E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90" y="1690688"/>
            <a:ext cx="7269352" cy="408901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FC8AC3-C1C8-4999-B53B-7C1CCF3E720A}"/>
              </a:ext>
            </a:extLst>
          </p:cNvPr>
          <p:cNvSpPr txBox="1"/>
          <p:nvPr/>
        </p:nvSpPr>
        <p:spPr>
          <a:xfrm>
            <a:off x="7988060" y="1906438"/>
            <a:ext cx="36921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Age Distribution: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Majority of students are between </a:t>
            </a:r>
            <a:r>
              <a:rPr lang="en-GB" b="1" dirty="0"/>
              <a:t>15–19 years</a:t>
            </a:r>
            <a:r>
              <a:rPr lang="en-GB" dirty="0"/>
              <a:t>, which matches the typical high school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Only a few students are above 20 → they might be repeaters.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35003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1D907-C2A2-4517-B3F5-ED924BBF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85C0AA-F55C-4484-977B-51D705FA5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92" y="1506448"/>
            <a:ext cx="5265840" cy="29620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E223BD-2F11-4542-BE7E-2FFA7AF39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131" y="1506447"/>
            <a:ext cx="5265839" cy="2962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803E70-3AFF-447B-8A9B-3A3CF55D5E9F}"/>
              </a:ext>
            </a:extLst>
          </p:cNvPr>
          <p:cNvSpPr txBox="1"/>
          <p:nvPr/>
        </p:nvSpPr>
        <p:spPr>
          <a:xfrm>
            <a:off x="1207698" y="5098211"/>
            <a:ext cx="54260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Parental Education (</a:t>
            </a:r>
            <a:r>
              <a:rPr lang="en-GB" b="1" dirty="0" err="1"/>
              <a:t>Medu</a:t>
            </a:r>
            <a:r>
              <a:rPr lang="en-GB" b="1" dirty="0"/>
              <a:t> &amp; </a:t>
            </a:r>
            <a:r>
              <a:rPr lang="en-GB" b="1" dirty="0" err="1"/>
              <a:t>Fedu</a:t>
            </a:r>
            <a:r>
              <a:rPr lang="en-GB" b="1" dirty="0"/>
              <a:t>)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Most parents fall between </a:t>
            </a:r>
            <a:r>
              <a:rPr lang="en-GB" b="1" dirty="0"/>
              <a:t>1–4 levels (primary to higher education)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Extreme values (0 = no education) are rare → dataset not heavily skewed toward illiterate parents.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79520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6394-ACFC-47E6-B2B9-838D6D08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51D2B6-CE61-47F0-B8EE-915374245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707410" cy="37729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4A28E8-FBC8-410C-986A-E7D7057BAFE8}"/>
              </a:ext>
            </a:extLst>
          </p:cNvPr>
          <p:cNvSpPr txBox="1"/>
          <p:nvPr/>
        </p:nvSpPr>
        <p:spPr>
          <a:xfrm>
            <a:off x="8203721" y="1690688"/>
            <a:ext cx="33901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Final Grade (G3)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Histogram of </a:t>
            </a:r>
            <a:r>
              <a:rPr lang="en-GB" b="1" dirty="0"/>
              <a:t>G3 is approximately normal</a:t>
            </a:r>
            <a:r>
              <a:rPr lang="en-GB" dirty="0"/>
              <a:t>, no strong skewness.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Suggests performance distribution is balanced, not dominated by either low or high scorers.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22465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7DD6-30C8-4236-8326-D5B07552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040752-F0C2-426E-B6DD-38DDD13EF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01338"/>
            <a:ext cx="7029091" cy="39538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88B89F-8323-4FA6-A2F0-B7E6BCCB40A2}"/>
              </a:ext>
            </a:extLst>
          </p:cNvPr>
          <p:cNvSpPr txBox="1"/>
          <p:nvPr/>
        </p:nvSpPr>
        <p:spPr>
          <a:xfrm>
            <a:off x="8652294" y="1601338"/>
            <a:ext cx="31055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Internet Access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~350 students have internet, while ~70 don’t.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Majority having internet access means it may not be a strong differentiator unless linked with outcomes.</a:t>
            </a:r>
          </a:p>
        </p:txBody>
      </p:sp>
    </p:spTree>
    <p:extLst>
      <p:ext uri="{BB962C8B-B14F-4D97-AF65-F5344CB8AC3E}">
        <p14:creationId xmlns:p14="http://schemas.microsoft.com/office/powerpoint/2010/main" val="1968628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C3B0-F3C5-4693-A2AF-94D58A373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C01172-B16D-4F20-8D53-9D7BC2B01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349200" cy="35714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1939A8-E6F3-4253-8B77-987620ED7547}"/>
              </a:ext>
            </a:extLst>
          </p:cNvPr>
          <p:cNvSpPr txBox="1"/>
          <p:nvPr/>
        </p:nvSpPr>
        <p:spPr>
          <a:xfrm>
            <a:off x="7927675" y="1570008"/>
            <a:ext cx="35713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Pass/Fail Distribution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Almost equal split between </a:t>
            </a:r>
            <a:r>
              <a:rPr lang="en-GB" b="1" dirty="0"/>
              <a:t>pass and fail</a:t>
            </a:r>
            <a:r>
              <a:rPr lang="en-GB" dirty="0"/>
              <a:t> → good for classification (balanced target variable).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68596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76EDB2-B4DD-40E6-A2FC-8A8863EE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Bivariate EDA</a:t>
            </a:r>
            <a:endParaRPr lang="en-S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6E24-A96C-419F-9564-2C5273208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b="1"/>
              <a:t>Bivariate Analysis</a:t>
            </a:r>
          </a:p>
          <a:p>
            <a:pPr lvl="1"/>
            <a:r>
              <a:rPr lang="en-GB" sz="2000"/>
              <a:t>The purpose of bivariate analysis is to understand how </a:t>
            </a:r>
            <a:r>
              <a:rPr lang="en-GB" sz="2000" b="1"/>
              <a:t>individual attributes relate to student performance (G3 / Pass)</a:t>
            </a:r>
            <a:r>
              <a:rPr lang="en-GB" sz="2000"/>
              <a:t>. By studying pairwise relationships, we can identify factors that strongly influence final grades and separate meaningful predictors from weaker ones.</a:t>
            </a:r>
          </a:p>
          <a:p>
            <a:r>
              <a:rPr lang="en-GB" sz="2000" b="1"/>
              <a:t>We focus on the following groups of attributes:</a:t>
            </a:r>
          </a:p>
          <a:p>
            <a:pPr lvl="1"/>
            <a:r>
              <a:rPr lang="en-GB" sz="2000" b="1"/>
              <a:t>Study-Related Factors</a:t>
            </a:r>
          </a:p>
          <a:p>
            <a:pPr lvl="2"/>
            <a:r>
              <a:rPr lang="en-GB" dirty="0"/>
              <a:t>Attributes: </a:t>
            </a:r>
            <a:r>
              <a:rPr lang="en-GB"/>
              <a:t>studytime</a:t>
            </a:r>
            <a:r>
              <a:rPr lang="en-GB" dirty="0"/>
              <a:t>, failures, absences</a:t>
            </a:r>
          </a:p>
          <a:p>
            <a:pPr lvl="2"/>
            <a:r>
              <a:rPr lang="en-GB" dirty="0"/>
              <a:t>Reason: These directly represent learning effort and attendance, which are expected to correlate with academic success.</a:t>
            </a:r>
          </a:p>
          <a:p>
            <a:pPr lvl="1"/>
            <a:r>
              <a:rPr lang="en-GB" sz="2000" b="1"/>
              <a:t>Performance History</a:t>
            </a:r>
          </a:p>
          <a:p>
            <a:pPr lvl="2"/>
            <a:r>
              <a:rPr lang="en-GB" dirty="0"/>
              <a:t>Attributes: G1, G2 (previous period grades)</a:t>
            </a:r>
          </a:p>
          <a:p>
            <a:pPr lvl="2"/>
            <a:r>
              <a:rPr lang="en-GB" dirty="0"/>
              <a:t>Reason: Earlier grades often indicate consistency and are strong predictors of the final grade (G3).</a:t>
            </a:r>
          </a:p>
          <a:p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589564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1F09F-36CD-4CA9-A478-2E2613E1E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Bivariate EDA</a:t>
            </a:r>
            <a:endParaRPr lang="en-S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DB9F7-B90A-43FC-A870-02475DB8E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1900" b="1"/>
              <a:t>Family &amp; Parental Background</a:t>
            </a:r>
          </a:p>
          <a:p>
            <a:pPr lvl="1"/>
            <a:r>
              <a:rPr lang="en-GB" sz="1900"/>
              <a:t>Attributes: famrel, famsup, Medu, Fedu</a:t>
            </a:r>
          </a:p>
          <a:p>
            <a:pPr lvl="1"/>
            <a:r>
              <a:rPr lang="en-GB" sz="1900"/>
              <a:t>Reason: Family environment and parental support can provide motivation and resources, which may influence academic performance.</a:t>
            </a:r>
          </a:p>
          <a:p>
            <a:endParaRPr lang="en-GB" sz="1900"/>
          </a:p>
          <a:p>
            <a:r>
              <a:rPr lang="en-GB" sz="1900" b="1"/>
              <a:t>Social &amp; Lifestyle Factors</a:t>
            </a:r>
          </a:p>
          <a:p>
            <a:pPr lvl="1"/>
            <a:r>
              <a:rPr lang="en-GB" sz="1900"/>
              <a:t>Attributes: romantic, goout, Dalc, Walc</a:t>
            </a:r>
          </a:p>
          <a:p>
            <a:pPr lvl="1"/>
            <a:r>
              <a:rPr lang="en-GB" sz="1900"/>
              <a:t>Reason: Social life and lifestyle habits can distract students from studies, potentially lowering performance.</a:t>
            </a:r>
          </a:p>
          <a:p>
            <a:endParaRPr lang="en-GB" sz="1900"/>
          </a:p>
          <a:p>
            <a:r>
              <a:rPr lang="en-GB" sz="1900" b="1"/>
              <a:t>Other Environment Factors</a:t>
            </a:r>
          </a:p>
          <a:p>
            <a:pPr lvl="1"/>
            <a:r>
              <a:rPr lang="en-GB" sz="1900"/>
              <a:t>Attributes: school, internet, activities, sex</a:t>
            </a:r>
          </a:p>
          <a:p>
            <a:pPr lvl="1"/>
            <a:r>
              <a:rPr lang="en-GB" sz="1900"/>
              <a:t>Reason: School resources, internet access, and gender differences might play a role in performance, though possibly weaker compared to study/lifestyle factors.</a:t>
            </a:r>
            <a:endParaRPr lang="en-SG" sz="1900"/>
          </a:p>
        </p:txBody>
      </p:sp>
    </p:spTree>
    <p:extLst>
      <p:ext uri="{BB962C8B-B14F-4D97-AF65-F5344CB8AC3E}">
        <p14:creationId xmlns:p14="http://schemas.microsoft.com/office/powerpoint/2010/main" val="3326836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1E1A-102B-450C-A006-FB15DFB93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D393DC-CBA6-492A-AF44-EA7732423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66832"/>
            <a:ext cx="6630732" cy="37297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E716A4-78DD-4B9B-BB99-F0E241369CF9}"/>
              </a:ext>
            </a:extLst>
          </p:cNvPr>
          <p:cNvSpPr txBox="1"/>
          <p:nvPr/>
        </p:nvSpPr>
        <p:spPr>
          <a:xfrm>
            <a:off x="7771015" y="1566832"/>
            <a:ext cx="36834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Studytime</a:t>
            </a:r>
            <a:r>
              <a:rPr lang="en-GB" b="1" dirty="0"/>
              <a:t> vs. G3 (Boxplot):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grade distribution across </a:t>
            </a:r>
            <a:r>
              <a:rPr lang="en-GB" dirty="0" err="1"/>
              <a:t>studytime</a:t>
            </a:r>
            <a:r>
              <a:rPr lang="en-GB" dirty="0"/>
              <a:t> categories shows </a:t>
            </a:r>
            <a:r>
              <a:rPr lang="en-GB" b="1" dirty="0"/>
              <a:t>minimal skewness and no major outliers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Students with higher </a:t>
            </a:r>
            <a:r>
              <a:rPr lang="en-GB" dirty="0" err="1"/>
              <a:t>studytime</a:t>
            </a:r>
            <a:r>
              <a:rPr lang="en-GB" dirty="0"/>
              <a:t> tend to achieve better grades, though the improvement isn’t dramatic.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47656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4326-D946-4992-B219-9F261C3EA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367"/>
            <a:ext cx="10515600" cy="1325563"/>
          </a:xfrm>
        </p:spPr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96314-1E60-4A62-ABF9-2129C5421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6732597" cy="3787086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A3D658-77BE-48BB-B7D1-21E9210242A9}"/>
              </a:ext>
            </a:extLst>
          </p:cNvPr>
          <p:cNvSpPr txBox="1"/>
          <p:nvPr/>
        </p:nvSpPr>
        <p:spPr>
          <a:xfrm>
            <a:off x="7668883" y="1638930"/>
            <a:ext cx="36849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Studytime</a:t>
            </a:r>
            <a:r>
              <a:rPr lang="en-GB" b="1" dirty="0"/>
              <a:t> vs. Pass Rate (Aggregated </a:t>
            </a:r>
            <a:r>
              <a:rPr lang="en-GB" b="1" dirty="0" err="1"/>
              <a:t>Barplot</a:t>
            </a:r>
            <a:r>
              <a:rPr lang="en-GB" b="1" dirty="0"/>
              <a:t>):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By averaging the Pass variable (0 = fail, 1 = pass), we see a clear positive correlation.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Students who dedicate more weekly study hours have a higher likelihood of passing, confirming that study effort matters.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86238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E5EF-8B78-4363-B7F3-8BB25E26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EF0029-B983-4AFB-93E8-A6A918F0C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2" y="1690688"/>
            <a:ext cx="7069986" cy="397686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49A1CE-6341-45BE-A4CF-96CE813AA67D}"/>
              </a:ext>
            </a:extLst>
          </p:cNvPr>
          <p:cNvSpPr txBox="1"/>
          <p:nvPr/>
        </p:nvSpPr>
        <p:spPr>
          <a:xfrm>
            <a:off x="7962181" y="1759789"/>
            <a:ext cx="33916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G2 vs. G3 (Scatterplot):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strong linear relationship is observed: students with higher second-period grades (G2) almost always secure higher final grades (G3).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indicates that academic consistency is a major factor in predicting final outcomes.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7376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B3A0-813B-490F-8616-AAF8BC5F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1424-1557-49F6-B96D-E6FCD7E19711}"/>
              </a:ext>
            </a:extLst>
          </p:cNvPr>
          <p:cNvSpPr txBox="1"/>
          <p:nvPr/>
        </p:nvSpPr>
        <p:spPr>
          <a:xfrm>
            <a:off x="7720642" y="1690688"/>
            <a:ext cx="37783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Weekend Alcohol Consumption</a:t>
            </a:r>
          </a:p>
          <a:p>
            <a:r>
              <a:rPr lang="en-GB" b="1" dirty="0"/>
              <a:t>(</a:t>
            </a:r>
            <a:r>
              <a:rPr lang="en-GB" b="1" dirty="0" err="1"/>
              <a:t>Walc</a:t>
            </a:r>
            <a:r>
              <a:rPr lang="en-GB" b="1" dirty="0"/>
              <a:t>) vs Pass (Aggregate </a:t>
            </a:r>
            <a:r>
              <a:rPr lang="en-GB" b="1" dirty="0" err="1"/>
              <a:t>Barplot</a:t>
            </a:r>
            <a:r>
              <a:rPr lang="en-GB" b="1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Observation: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Average alcohol consumption is slightly lower in pass=1 compared to pass=0.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Insight: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Heavy alcohol use is linked with slightly lower pass rates.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Though not a huge difference, it supports the intuition that lifestyle habits affect academic outcomes.</a:t>
            </a:r>
            <a:endParaRPr lang="en-SG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A2D5C88-FCDE-429C-A67D-4D78DF960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89" y="1690688"/>
            <a:ext cx="6131943" cy="3449218"/>
          </a:xfrm>
        </p:spPr>
      </p:pic>
    </p:spTree>
    <p:extLst>
      <p:ext uri="{BB962C8B-B14F-4D97-AF65-F5344CB8AC3E}">
        <p14:creationId xmlns:p14="http://schemas.microsoft.com/office/powerpoint/2010/main" val="3546482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9E83B-533C-4213-937A-05C30BAC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76994B-B08B-4127-BC1D-5AD53649C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2878"/>
            <a:ext cx="6718540" cy="3779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519882-7CE6-45A5-A07A-0190326045C8}"/>
              </a:ext>
            </a:extLst>
          </p:cNvPr>
          <p:cNvSpPr txBox="1"/>
          <p:nvPr/>
        </p:nvSpPr>
        <p:spPr>
          <a:xfrm>
            <a:off x="7927675" y="1802921"/>
            <a:ext cx="35023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Internet Access vs G3 (Boxplot):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Observation: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Students without internet: median ≈ 10, range 0–18.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Students with internet: median ≈ 11, range 0–20.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Insight: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Having internet shows a slight positive effect on final grades.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difference isn’t huge, but availability of internet access might provide better resources for study and homework.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0412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93595-43C7-4576-A824-18FEF48B1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6E614F-C284-4203-ADCC-979CF947E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054306" cy="340554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04006F-6FEA-4776-BA1D-439B85741180}"/>
              </a:ext>
            </a:extLst>
          </p:cNvPr>
          <p:cNvSpPr txBox="1"/>
          <p:nvPr/>
        </p:nvSpPr>
        <p:spPr>
          <a:xfrm>
            <a:off x="7471194" y="1552755"/>
            <a:ext cx="38387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Parental Education (</a:t>
            </a:r>
            <a:r>
              <a:rPr lang="en-GB" b="1" dirty="0" err="1"/>
              <a:t>Fedu</a:t>
            </a:r>
            <a:r>
              <a:rPr lang="en-GB" b="1" dirty="0"/>
              <a:t> &amp; </a:t>
            </a:r>
            <a:r>
              <a:rPr lang="en-GB" b="1" dirty="0" err="1"/>
              <a:t>Medu</a:t>
            </a:r>
            <a:r>
              <a:rPr lang="en-GB" b="1" dirty="0"/>
              <a:t>) vs Pass (Grouped </a:t>
            </a:r>
            <a:r>
              <a:rPr lang="en-GB" b="1" dirty="0" err="1"/>
              <a:t>Barplot</a:t>
            </a:r>
            <a:r>
              <a:rPr lang="en-GB" b="1" dirty="0"/>
              <a:t>):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Observation: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Average parental education is higher for pass=1 compared to pass=0.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Insight: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Students whose parents are better educated are more likely to pass.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This suggests family background and guidance influence academic success.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13540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CA9F-0F11-4A9F-A68A-BF4C209A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Analysis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D964AC-DAC3-4098-A5F9-EC38874FA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8591"/>
            <a:ext cx="6646068" cy="373841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FDD153-95A3-4DD3-9B14-3979BB784725}"/>
              </a:ext>
            </a:extLst>
          </p:cNvPr>
          <p:cNvSpPr txBox="1"/>
          <p:nvPr/>
        </p:nvSpPr>
        <p:spPr>
          <a:xfrm>
            <a:off x="8022566" y="1595887"/>
            <a:ext cx="31917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Family Support (</a:t>
            </a:r>
            <a:r>
              <a:rPr lang="en-GB" b="1" dirty="0" err="1"/>
              <a:t>famsup</a:t>
            </a:r>
            <a:r>
              <a:rPr lang="en-GB" b="1" dirty="0"/>
              <a:t>) vs G3 (Boxplot):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Students with family support have slightly higher median scores (13.25 vs 14), but the difference is very small.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Both groups show a similar spread of scores, meaning family support alone may not strongly influence G3.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Insight: Family support might help, but it’s not a decisive factor.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2271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FD623-C442-4F0A-9E4F-9A5F56087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C51DB0-2721-475E-8E9F-B093CB486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924909" cy="333276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20A81C-BED5-402D-B078-ACB29982E923}"/>
              </a:ext>
            </a:extLst>
          </p:cNvPr>
          <p:cNvSpPr txBox="1"/>
          <p:nvPr/>
        </p:nvSpPr>
        <p:spPr>
          <a:xfrm>
            <a:off x="7617125" y="1863306"/>
            <a:ext cx="31745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Absences vs G3 (Scatter Plot):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Majority of students have 0–10 absences, and their G3 scores range widely (5–20).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 absences increase, the number of students decreases, and scores become more scattered.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Insight: High absences generally align with lower performance, though occasional absences don’t seem to impact much.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57262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43F7-B207-4A97-BDA0-7ADA81772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0DD497-380F-4DCF-9E23-8EA7016D6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287858" cy="353692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0E1AEB-8C94-4BA2-82B5-BBCA573632BD}"/>
              </a:ext>
            </a:extLst>
          </p:cNvPr>
          <p:cNvSpPr txBox="1"/>
          <p:nvPr/>
        </p:nvSpPr>
        <p:spPr>
          <a:xfrm>
            <a:off x="7772400" y="1690688"/>
            <a:ext cx="33470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Free Time vs Pass (Bar Plot):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Average free time for pass=0 and pass=1 is nearly the same.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Insight: </a:t>
            </a:r>
            <a:r>
              <a:rPr lang="en-GB" b="1" dirty="0"/>
              <a:t>Free time doesn’t show a strong direct relationship with passing</a:t>
            </a:r>
            <a:r>
              <a:rPr lang="en-GB" dirty="0"/>
              <a:t>. It might only matter when combined with other lifestyle factors (like going out, alcohol).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98070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EE33-58C5-43F5-A21E-EFFE0468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25B61-3D6A-434F-89E8-5F2114306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73867"/>
            <a:ext cx="6580517" cy="37015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35567-A16A-4976-872E-95F324BC958B}"/>
              </a:ext>
            </a:extLst>
          </p:cNvPr>
          <p:cNvSpPr txBox="1"/>
          <p:nvPr/>
        </p:nvSpPr>
        <p:spPr>
          <a:xfrm>
            <a:off x="8272732" y="1773867"/>
            <a:ext cx="279495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Romantic Relationship vs G3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Median G3 for both groups (yes/no) is quite close (11).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Slightly higher spread in the no relationship group, with max values going up to 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Interpretation: Being in a relationship doesn’t drastically reduce performance, but students without romantic relationships have a slightly higher upper range in scores.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282791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5578E-3916-469B-B34E-69AD04C64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2212A5-5C10-40DE-BEE6-95097A3D6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425879" cy="36145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86D2BB-4288-4F45-8CD5-A0FDE5266D69}"/>
              </a:ext>
            </a:extLst>
          </p:cNvPr>
          <p:cNvSpPr txBox="1"/>
          <p:nvPr/>
        </p:nvSpPr>
        <p:spPr>
          <a:xfrm>
            <a:off x="8005313" y="1604513"/>
            <a:ext cx="313138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Health vs G3: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Median scores across health groups are all around 10–13, fairly stable.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Health = 1 group (poorest health) actually had some students reaching max scores (19).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Interpretation: Surprisingly, health does not show a strong linear relationship with G3. Students with poor or excellent health both achieve good scores, suggesting other factors dominate academic performance.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86594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5578E-3916-469B-B34E-69AD04C64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EDA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3660DD-1DBA-4E76-A67A-09C708DBA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045679" cy="34006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E71524-9D19-41F5-A0DA-EBDD2AAAF037}"/>
              </a:ext>
            </a:extLst>
          </p:cNvPr>
          <p:cNvSpPr txBox="1"/>
          <p:nvPr/>
        </p:nvSpPr>
        <p:spPr>
          <a:xfrm>
            <a:off x="7643004" y="1604513"/>
            <a:ext cx="31831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GoOut</a:t>
            </a:r>
            <a:r>
              <a:rPr lang="en-GB" b="1" dirty="0"/>
              <a:t> vs Pass: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Avg</a:t>
            </a:r>
            <a:r>
              <a:rPr lang="en-GB" dirty="0"/>
              <a:t> </a:t>
            </a:r>
            <a:r>
              <a:rPr lang="en-GB" dirty="0" err="1"/>
              <a:t>goout</a:t>
            </a:r>
            <a:r>
              <a:rPr lang="en-GB" dirty="0"/>
              <a:t> for Pass=0 → 3.3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Avg</a:t>
            </a:r>
            <a:r>
              <a:rPr lang="en-GB" dirty="0"/>
              <a:t> </a:t>
            </a:r>
            <a:r>
              <a:rPr lang="en-GB" dirty="0" err="1"/>
              <a:t>goout</a:t>
            </a:r>
            <a:r>
              <a:rPr lang="en-GB" dirty="0"/>
              <a:t> for Pass=1 → 2.95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Interpretation: Students who fail tend to go out slightly more often, suggesting social activities could be a distraction from academics. The difference isn’t huge, but it’s consistent.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572981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ECB07-08B6-4F4F-B70C-C1274BDB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Feature Selection</a:t>
            </a:r>
            <a:endParaRPr lang="en-S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9ED4D-46BA-4362-9D7D-4CA8B88EE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/>
              <a:t>Based on EDA insights and domain intuition, the following features were selected:</a:t>
            </a:r>
          </a:p>
          <a:p>
            <a:pPr lvl="1"/>
            <a:r>
              <a:rPr lang="en-GB" sz="2000" b="1"/>
              <a:t>Academic performance indicators</a:t>
            </a:r>
            <a:r>
              <a:rPr lang="en-GB" sz="2000"/>
              <a:t>: G1, G2, studytime, failures, absences</a:t>
            </a:r>
          </a:p>
          <a:p>
            <a:pPr lvl="1"/>
            <a:r>
              <a:rPr lang="en-GB" sz="2000" b="1"/>
              <a:t>Family/Support factors</a:t>
            </a:r>
            <a:r>
              <a:rPr lang="en-GB" sz="2000"/>
              <a:t>: famsup, schoolsup, internet</a:t>
            </a:r>
          </a:p>
          <a:p>
            <a:pPr lvl="1"/>
            <a:r>
              <a:rPr lang="en-GB" sz="2000" b="1"/>
              <a:t>Social &amp; lifestyle factors</a:t>
            </a:r>
            <a:r>
              <a:rPr lang="en-GB" sz="2000"/>
              <a:t>: goout, freetime, romantic, activities</a:t>
            </a:r>
          </a:p>
          <a:p>
            <a:pPr lvl="1"/>
            <a:r>
              <a:rPr lang="en-GB" sz="2000" b="1"/>
              <a:t>Health &amp; Well-being</a:t>
            </a:r>
            <a:r>
              <a:rPr lang="en-GB" sz="2000"/>
              <a:t>: famrel, health, Dalc, Walc, traveltime, age</a:t>
            </a:r>
          </a:p>
          <a:p>
            <a:pPr lvl="1"/>
            <a:r>
              <a:rPr lang="en-GB" sz="2000"/>
              <a:t>Features like reason, guardian, higher, school, and detailed parental jobs were excluded as they showed minimal influence in EDA.</a:t>
            </a: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801120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AC447-C8DC-4E39-8552-47FD3FA6A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Model Selection</a:t>
            </a:r>
            <a:endParaRPr lang="en-S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90F98-6302-4C96-96F8-6E178CA63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b="1" u="sng"/>
              <a:t>Since the task is binary classification (Pass = 1, Fail = 0):</a:t>
            </a:r>
          </a:p>
          <a:p>
            <a:r>
              <a:rPr lang="en-GB" sz="2000" b="1"/>
              <a:t>Logistic Regression</a:t>
            </a:r>
          </a:p>
          <a:p>
            <a:pPr lvl="1"/>
            <a:r>
              <a:rPr lang="en-GB" sz="2000"/>
              <a:t>Simple, interpretable baseline model.</a:t>
            </a:r>
          </a:p>
          <a:p>
            <a:pPr lvl="1"/>
            <a:r>
              <a:rPr lang="en-GB" sz="2000"/>
              <a:t>Good to check which features influence Pass/Fail.</a:t>
            </a:r>
          </a:p>
          <a:p>
            <a:r>
              <a:rPr lang="en-GB" sz="2000" b="1"/>
              <a:t>Random Forest Classifier</a:t>
            </a:r>
          </a:p>
          <a:p>
            <a:pPr lvl="1"/>
            <a:r>
              <a:rPr lang="en-GB" sz="2000"/>
              <a:t>Handles categorical + numerical features well.</a:t>
            </a:r>
          </a:p>
          <a:p>
            <a:pPr lvl="1"/>
            <a:r>
              <a:rPr lang="en-GB" sz="2000"/>
              <a:t>Captures non-linear relationships.</a:t>
            </a:r>
          </a:p>
          <a:p>
            <a:pPr lvl="1"/>
            <a:r>
              <a:rPr lang="en-GB" sz="2000"/>
              <a:t>Provides feature importance ranking for better insights.</a:t>
            </a:r>
          </a:p>
          <a:p>
            <a:r>
              <a:rPr lang="en-GB" sz="2000"/>
              <a:t>We go with Logistic Regression.</a:t>
            </a:r>
          </a:p>
        </p:txBody>
      </p:sp>
    </p:spTree>
    <p:extLst>
      <p:ext uri="{BB962C8B-B14F-4D97-AF65-F5344CB8AC3E}">
        <p14:creationId xmlns:p14="http://schemas.microsoft.com/office/powerpoint/2010/main" val="1282410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9EEE3-5C26-46F2-A5D7-34D07083B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SG" sz="4000">
                <a:solidFill>
                  <a:srgbClr val="FFFFFF"/>
                </a:solidFill>
              </a:rPr>
              <a:t>Data Preprocessing – Label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B1ABA-35D2-49E6-B68D-A139C77D7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/>
              <a:t>The original dataset had the target variable Pass as a nominal attribute.</a:t>
            </a:r>
          </a:p>
          <a:p>
            <a:r>
              <a:rPr lang="en-GB" sz="2000"/>
              <a:t>Since Logistic Regression only supports binary (0/1) labels, we applied a Nominal-to-Binomial transformation.</a:t>
            </a:r>
          </a:p>
          <a:p>
            <a:r>
              <a:rPr lang="en-GB" sz="2000"/>
              <a:t>After transformation:</a:t>
            </a:r>
          </a:p>
          <a:p>
            <a:pPr lvl="1"/>
            <a:r>
              <a:rPr lang="en-GB" sz="2000"/>
              <a:t>Pass = 1 → Student successfully passed.</a:t>
            </a:r>
          </a:p>
          <a:p>
            <a:pPr lvl="1"/>
            <a:r>
              <a:rPr lang="en-GB" sz="2000"/>
              <a:t>Pass = 0 → Student did not pass.</a:t>
            </a:r>
          </a:p>
          <a:p>
            <a:r>
              <a:rPr lang="en-GB" sz="2000"/>
              <a:t>This preprocessing ensures:</a:t>
            </a:r>
          </a:p>
          <a:p>
            <a:pPr lvl="1"/>
            <a:r>
              <a:rPr lang="en-GB" sz="2000"/>
              <a:t>Compatibility with logistic regression.</a:t>
            </a:r>
          </a:p>
          <a:p>
            <a:pPr lvl="1"/>
            <a:r>
              <a:rPr lang="en-GB" sz="2000"/>
              <a:t>Clear interpretation of prediction outcomes.</a:t>
            </a: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25919953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64A7D-0BCF-4EF3-BCC4-675D19DE5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SG" sz="4000">
                <a:solidFill>
                  <a:srgbClr val="FFFFFF"/>
                </a:solidFill>
              </a:rPr>
              <a:t>Train-Test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94675-A073-4F48-AEFD-0C635A35B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/>
              <a:t>To evaluate model performance fairly, the dataset was divided into training and testing subsets.</a:t>
            </a:r>
          </a:p>
          <a:p>
            <a:r>
              <a:rPr lang="en-GB" sz="2000" b="1"/>
              <a:t>Configuration used:</a:t>
            </a:r>
          </a:p>
          <a:p>
            <a:pPr lvl="1"/>
            <a:r>
              <a:rPr lang="en-GB" sz="2000"/>
              <a:t>Training Data → 70% of records</a:t>
            </a:r>
          </a:p>
          <a:p>
            <a:pPr lvl="1"/>
            <a:r>
              <a:rPr lang="en-GB" sz="2000"/>
              <a:t>Testing Data → 30% of records</a:t>
            </a:r>
          </a:p>
          <a:p>
            <a:r>
              <a:rPr lang="en-GB" sz="2000" b="1"/>
              <a:t>Why this step is important?</a:t>
            </a:r>
          </a:p>
          <a:p>
            <a:pPr lvl="1"/>
            <a:r>
              <a:rPr lang="en-GB" sz="2000"/>
              <a:t>Prevents the model from memorizing the data.</a:t>
            </a:r>
          </a:p>
          <a:p>
            <a:pPr lvl="1"/>
            <a:r>
              <a:rPr lang="en-GB" sz="2000"/>
              <a:t>Helps measure how well the model generalizes to unseen students.</a:t>
            </a: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18602865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163FA-7D7F-4867-AD74-E6E30021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SG" sz="4000">
                <a:solidFill>
                  <a:srgbClr val="FFFFFF"/>
                </a:solidFill>
              </a:rPr>
              <a:t>Logistic Regression – Model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98E32-E1A1-46D4-8B73-9CC3988C1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1600" b="1"/>
              <a:t>Why Logistic Regression?</a:t>
            </a:r>
          </a:p>
          <a:p>
            <a:pPr lvl="1"/>
            <a:r>
              <a:rPr lang="en-GB" sz="1600"/>
              <a:t>It is well-suited for binary classification problems like Pass vs Fail.</a:t>
            </a:r>
          </a:p>
          <a:p>
            <a:pPr lvl="1"/>
            <a:r>
              <a:rPr lang="en-GB" sz="1600"/>
              <a:t>Outputs probabilities (likelihood of passing).</a:t>
            </a:r>
          </a:p>
          <a:p>
            <a:pPr lvl="1"/>
            <a:r>
              <a:rPr lang="en-GB" sz="1600"/>
              <a:t>Coefficients are easily interpretable (positive = increases chance of passing, negative = decreases chance).</a:t>
            </a:r>
          </a:p>
          <a:p>
            <a:r>
              <a:rPr lang="en-GB" sz="1600" b="1"/>
              <a:t>Parameters Configured:</a:t>
            </a:r>
          </a:p>
          <a:p>
            <a:pPr lvl="1"/>
            <a:r>
              <a:rPr lang="en-GB" sz="1600"/>
              <a:t>Lambda Search → Enabled for automatic tuning of regularization strength.</a:t>
            </a:r>
          </a:p>
          <a:p>
            <a:pPr lvl="1"/>
            <a:r>
              <a:rPr lang="en-GB" sz="1600"/>
              <a:t>Alpha (0–1) → Balances Lasso (feature selection) and Ridge (regularization). Prevents overfitting.</a:t>
            </a:r>
          </a:p>
          <a:p>
            <a:pPr lvl="1"/>
            <a:r>
              <a:rPr lang="en-GB" sz="1600"/>
              <a:t>Reproducible Mode → Ensures same results across multiple runs.</a:t>
            </a:r>
          </a:p>
          <a:p>
            <a:pPr lvl="1"/>
            <a:r>
              <a:rPr lang="en-GB" sz="1600"/>
              <a:t>Max Threads → Set to utilize available system cores for faster computation.</a:t>
            </a:r>
          </a:p>
          <a:p>
            <a:r>
              <a:rPr lang="en-GB" sz="1600" b="1"/>
              <a:t>Expected Behavior:</a:t>
            </a:r>
          </a:p>
          <a:p>
            <a:pPr lvl="1"/>
            <a:r>
              <a:rPr lang="en-GB" sz="1600"/>
              <a:t>Penalize irrelevant/noisy features.</a:t>
            </a:r>
          </a:p>
          <a:p>
            <a:pPr lvl="1"/>
            <a:r>
              <a:rPr lang="en-GB" sz="1600"/>
              <a:t>Focus on attributes with stronger predictive power (e.g., G1, G2, failures, parental education).</a:t>
            </a:r>
            <a:endParaRPr lang="en-SG" sz="1600"/>
          </a:p>
        </p:txBody>
      </p:sp>
    </p:spTree>
    <p:extLst>
      <p:ext uri="{BB962C8B-B14F-4D97-AF65-F5344CB8AC3E}">
        <p14:creationId xmlns:p14="http://schemas.microsoft.com/office/powerpoint/2010/main" val="32777239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D483E-2600-4C04-86A6-303447491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SG" sz="4000">
                <a:solidFill>
                  <a:srgbClr val="FFFFFF"/>
                </a:solidFill>
              </a:rPr>
              <a:t>Model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A67C8-06BA-49F8-9AE0-EE818574F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SG" sz="2000"/>
              <a:t>Algorithm Used: Logistic Regression (Binomial GLM)</a:t>
            </a:r>
          </a:p>
          <a:p>
            <a:r>
              <a:rPr lang="en-SG" sz="2000" b="1"/>
              <a:t>Key Metrics:</a:t>
            </a:r>
          </a:p>
          <a:p>
            <a:pPr lvl="1"/>
            <a:r>
              <a:rPr lang="en-SG" sz="2000" b="1"/>
              <a:t>MSE</a:t>
            </a:r>
            <a:r>
              <a:rPr lang="en-SG" sz="2000"/>
              <a:t> (Mean Squared Error): 0.144</a:t>
            </a:r>
          </a:p>
          <a:p>
            <a:pPr lvl="1"/>
            <a:r>
              <a:rPr lang="en-SG" sz="2000" b="1"/>
              <a:t>RMSE</a:t>
            </a:r>
            <a:r>
              <a:rPr lang="en-SG" sz="2000"/>
              <a:t> (Root Mean Squared Error): 0.379</a:t>
            </a:r>
          </a:p>
          <a:p>
            <a:pPr lvl="1"/>
            <a:r>
              <a:rPr lang="en-SG" sz="2000" b="1"/>
              <a:t>R²</a:t>
            </a:r>
            <a:r>
              <a:rPr lang="en-SG" sz="2000"/>
              <a:t> (Coefficient of Determination): 0.422 → Explains ~42% of variability in outcomes.</a:t>
            </a:r>
          </a:p>
          <a:p>
            <a:pPr lvl="1"/>
            <a:r>
              <a:rPr lang="en-SG" sz="2000" b="1"/>
              <a:t>AUC</a:t>
            </a:r>
            <a:r>
              <a:rPr lang="en-SG" sz="2000"/>
              <a:t> (Area Under ROC Curve): 0.988 → Excellent ability to distinguish between Pass and Fail.</a:t>
            </a:r>
          </a:p>
          <a:p>
            <a:pPr lvl="1"/>
            <a:r>
              <a:rPr lang="en-SG" sz="2000" b="1"/>
              <a:t>PR AUC</a:t>
            </a:r>
            <a:r>
              <a:rPr lang="en-SG" sz="2000"/>
              <a:t>: 0.990 → Very strong precision-recall performance.</a:t>
            </a:r>
          </a:p>
          <a:p>
            <a:pPr lvl="1"/>
            <a:r>
              <a:rPr lang="en-SG" sz="2000" b="1"/>
              <a:t>LogLoss</a:t>
            </a:r>
            <a:r>
              <a:rPr lang="en-SG" sz="2000"/>
              <a:t>: 0.469 → Low, indicates well-calibrated probabilities.</a:t>
            </a:r>
          </a:p>
          <a:p>
            <a:pPr lvl="1"/>
            <a:r>
              <a:rPr lang="en-SG" sz="2000" b="1"/>
              <a:t>Mean</a:t>
            </a:r>
            <a:r>
              <a:rPr lang="en-SG" sz="2000"/>
              <a:t> </a:t>
            </a:r>
            <a:r>
              <a:rPr lang="en-SG" sz="2000" b="1"/>
              <a:t>Per-Class</a:t>
            </a:r>
            <a:r>
              <a:rPr lang="en-SG" sz="2000"/>
              <a:t> </a:t>
            </a:r>
            <a:r>
              <a:rPr lang="en-SG" sz="2000" b="1"/>
              <a:t>Error</a:t>
            </a:r>
            <a:r>
              <a:rPr lang="en-SG" sz="2000"/>
              <a:t>: 0.0376 → Low error across both Pass and Fail categories.</a:t>
            </a:r>
          </a:p>
        </p:txBody>
      </p:sp>
    </p:spTree>
    <p:extLst>
      <p:ext uri="{BB962C8B-B14F-4D97-AF65-F5344CB8AC3E}">
        <p14:creationId xmlns:p14="http://schemas.microsoft.com/office/powerpoint/2010/main" val="5199610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E24A91-E3FA-4356-B25F-57B9AB7C7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SG" sz="4000">
                <a:solidFill>
                  <a:srgbClr val="FFFFFF"/>
                </a:solidFill>
              </a:rPr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8BFCE-C990-4712-A35D-1EB218733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/>
              <a:t>Default Threshold = 0.508</a:t>
            </a:r>
          </a:p>
          <a:p>
            <a:r>
              <a:rPr lang="en-GB" sz="2000" b="1"/>
              <a:t>Results</a:t>
            </a:r>
            <a:r>
              <a:rPr lang="en-GB" sz="2000"/>
              <a:t>:</a:t>
            </a:r>
          </a:p>
          <a:p>
            <a:pPr lvl="1"/>
            <a:r>
              <a:rPr lang="en-GB" sz="2000"/>
              <a:t>Correctly Predicted Failures: 122 / 130 (Error 6.15%)</a:t>
            </a:r>
          </a:p>
          <a:p>
            <a:pPr lvl="1"/>
            <a:r>
              <a:rPr lang="en-GB" sz="2000"/>
              <a:t>Correctly Predicted Passes: 144 / 146 (Error 1.37%)</a:t>
            </a:r>
          </a:p>
          <a:p>
            <a:pPr lvl="1"/>
            <a:r>
              <a:rPr lang="en-GB" sz="2000"/>
              <a:t>Total Accuracy = 96.38% (10 misclassifications out of 276 students).</a:t>
            </a:r>
          </a:p>
          <a:p>
            <a:r>
              <a:rPr lang="en-GB" sz="2000"/>
              <a:t>Shows the model is highly reliable in predicting both outcomes.</a:t>
            </a: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36823702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26FB26-65F7-4CAF-9521-E1CB09FA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SG" sz="4000">
                <a:solidFill>
                  <a:srgbClr val="FFFFFF"/>
                </a:solidFill>
              </a:rPr>
              <a:t>Variable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6DC5-53DF-4550-9438-CD40BF99D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/>
              <a:t>Top Predictors of Student Performance:</a:t>
            </a:r>
          </a:p>
          <a:p>
            <a:pPr lvl="1"/>
            <a:r>
              <a:rPr lang="en-GB" sz="2000"/>
              <a:t>G2 (2nd Period Grade) – Strongest predictor.</a:t>
            </a:r>
          </a:p>
          <a:p>
            <a:pPr lvl="1"/>
            <a:r>
              <a:rPr lang="en-GB" sz="2000"/>
              <a:t>G1 (1st Period Grade) – Almost equally predictive.</a:t>
            </a:r>
          </a:p>
          <a:p>
            <a:pPr lvl="1"/>
            <a:r>
              <a:rPr lang="en-GB" sz="2000"/>
              <a:t>G3 (Final Grade) – Very strong positive influence.</a:t>
            </a:r>
          </a:p>
          <a:p>
            <a:pPr lvl="1"/>
            <a:r>
              <a:rPr lang="en-GB" sz="2000"/>
              <a:t>Failures – Strong negative influence.</a:t>
            </a:r>
          </a:p>
          <a:p>
            <a:pPr lvl="1"/>
            <a:r>
              <a:rPr lang="en-GB" sz="2000"/>
              <a:t>Age – Older students slightly less likely to pass.</a:t>
            </a:r>
          </a:p>
          <a:p>
            <a:pPr lvl="1"/>
            <a:r>
              <a:rPr lang="en-GB" sz="2000"/>
              <a:t>Parental Education (Fedu, Medu) – Higher parental education → Higher pass likelihood.</a:t>
            </a:r>
          </a:p>
          <a:p>
            <a:pPr lvl="1"/>
            <a:r>
              <a:rPr lang="en-GB" sz="2000"/>
              <a:t>Goout (socializing) – Negative impact when excessive.</a:t>
            </a:r>
          </a:p>
          <a:p>
            <a:pPr lvl="1"/>
            <a:r>
              <a:rPr lang="en-GB" sz="2000"/>
              <a:t>School Support – Positive impact when provided.</a:t>
            </a:r>
          </a:p>
          <a:p>
            <a:r>
              <a:rPr lang="en-GB" sz="2000"/>
              <a:t>Less influential features: Job type, reasons for school choice, guardianship, etc.</a:t>
            </a: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1022493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9801D-61F3-4E1C-BD15-5E378C92F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SG" sz="4000">
                <a:solidFill>
                  <a:srgbClr val="FFFFFF"/>
                </a:solidFill>
              </a:rPr>
              <a:t>Interpretation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5297-F25C-4772-9DBA-45A0FC6F1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b="1"/>
              <a:t>Strong Academic Predictors:</a:t>
            </a:r>
          </a:p>
          <a:p>
            <a:pPr lvl="1"/>
            <a:r>
              <a:rPr lang="en-GB" sz="2000"/>
              <a:t>Prior performance (G1, G2) is the most reliable indicator of final success.</a:t>
            </a:r>
          </a:p>
          <a:p>
            <a:pPr lvl="1"/>
            <a:r>
              <a:rPr lang="en-GB" sz="2000"/>
              <a:t>Failures strongly reduce chances of passing.</a:t>
            </a:r>
          </a:p>
          <a:p>
            <a:r>
              <a:rPr lang="en-GB" sz="2000" b="1"/>
              <a:t>Family &amp; Support Factors:</a:t>
            </a:r>
          </a:p>
          <a:p>
            <a:pPr lvl="1"/>
            <a:r>
              <a:rPr lang="en-GB" sz="2000"/>
              <a:t>Parental education correlates positively with student success.</a:t>
            </a:r>
          </a:p>
          <a:p>
            <a:pPr lvl="1"/>
            <a:r>
              <a:rPr lang="en-GB" sz="2000"/>
              <a:t>School support programs improve outcomes.</a:t>
            </a:r>
          </a:p>
          <a:p>
            <a:r>
              <a:rPr lang="en-GB" sz="2000" b="1"/>
              <a:t>Lifestyle Factors:</a:t>
            </a:r>
          </a:p>
          <a:p>
            <a:pPr lvl="1"/>
            <a:r>
              <a:rPr lang="en-GB" sz="2000"/>
              <a:t>Excessive social outings and alcohol consumption negatively influence results.</a:t>
            </a:r>
          </a:p>
          <a:p>
            <a:pPr lvl="1"/>
            <a:r>
              <a:rPr lang="en-GB" sz="2000"/>
              <a:t>Internet access shows slight positive effect (helps in study resources).</a:t>
            </a: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1525522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45012-C924-4BEE-A4B9-58729A27F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SG" sz="4000">
                <a:solidFill>
                  <a:srgbClr val="FFFFFF"/>
                </a:solidFill>
              </a:rPr>
              <a:t>Conclusion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9A5D0-85BD-4E64-8E95-727033A2C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1100" b="1"/>
              <a:t>Conclusion:</a:t>
            </a:r>
          </a:p>
          <a:p>
            <a:pPr lvl="1"/>
            <a:r>
              <a:rPr lang="en-GB" sz="1100"/>
              <a:t>Logistic Regression achieved 96.38% accuracy with an AUC of 0.988, showing strong predictive ability.</a:t>
            </a:r>
          </a:p>
          <a:p>
            <a:pPr lvl="1"/>
            <a:r>
              <a:rPr lang="en-GB" sz="1100"/>
              <a:t>Academic history (G1, G2, G3) is the most reliable factor for predicting student success.</a:t>
            </a:r>
          </a:p>
          <a:p>
            <a:pPr lvl="1"/>
            <a:r>
              <a:rPr lang="en-GB" sz="1100"/>
              <a:t>Parental education and school support significantly improve student outcomes.</a:t>
            </a:r>
          </a:p>
          <a:p>
            <a:pPr lvl="1"/>
            <a:r>
              <a:rPr lang="en-GB" sz="1100"/>
              <a:t>Failures, absenteeism, and lifestyle habits (e.g., frequent outings, alcohol use) negatively impact performance.</a:t>
            </a:r>
          </a:p>
          <a:p>
            <a:r>
              <a:rPr lang="en-GB" sz="1100" b="1"/>
              <a:t>Recommendations:</a:t>
            </a:r>
          </a:p>
          <a:p>
            <a:pPr lvl="1"/>
            <a:r>
              <a:rPr lang="en-GB" sz="1100" b="1"/>
              <a:t>Early Intervention</a:t>
            </a:r>
            <a:r>
              <a:rPr lang="en-GB" sz="1100"/>
              <a:t>:</a:t>
            </a:r>
          </a:p>
          <a:p>
            <a:pPr lvl="2"/>
            <a:r>
              <a:rPr lang="en-GB" sz="1100"/>
              <a:t>Monitor students with low G1/G2 grades and provide targeted academic support.</a:t>
            </a:r>
          </a:p>
          <a:p>
            <a:pPr lvl="1"/>
            <a:r>
              <a:rPr lang="en-GB" sz="1100" b="1"/>
              <a:t>Parental Involvement</a:t>
            </a:r>
            <a:r>
              <a:rPr lang="en-GB" sz="1100"/>
              <a:t>:</a:t>
            </a:r>
          </a:p>
          <a:p>
            <a:pPr lvl="2"/>
            <a:r>
              <a:rPr lang="en-GB" sz="1100"/>
              <a:t>Encourage educational involvement at home; higher parental education correlates with better outcomes.</a:t>
            </a:r>
          </a:p>
          <a:p>
            <a:pPr lvl="1"/>
            <a:r>
              <a:rPr lang="en-GB" sz="1100" b="1"/>
              <a:t>School Support Programs</a:t>
            </a:r>
            <a:r>
              <a:rPr lang="en-GB" sz="1100"/>
              <a:t>:</a:t>
            </a:r>
          </a:p>
          <a:p>
            <a:pPr lvl="2"/>
            <a:r>
              <a:rPr lang="en-GB" sz="1100"/>
              <a:t>Expand tutoring, mentoring, and extra help initiatives.</a:t>
            </a:r>
          </a:p>
          <a:p>
            <a:pPr lvl="1"/>
            <a:r>
              <a:rPr lang="en-GB" sz="1100" b="1"/>
              <a:t>Balanced Lifestyle:</a:t>
            </a:r>
          </a:p>
          <a:p>
            <a:pPr lvl="2"/>
            <a:r>
              <a:rPr lang="en-GB" sz="1100"/>
              <a:t>Promote healthy habits: controlled socializing, reduced alcohol use, better time management.</a:t>
            </a:r>
          </a:p>
          <a:p>
            <a:pPr lvl="1"/>
            <a:r>
              <a:rPr lang="en-GB" sz="1100" b="1"/>
              <a:t>Data-Driven Monitoring:</a:t>
            </a:r>
          </a:p>
          <a:p>
            <a:pPr lvl="2"/>
            <a:r>
              <a:rPr lang="en-GB" sz="1100"/>
              <a:t>Regularly analyze student data to identify at-risk groups early and prevent failures.</a:t>
            </a:r>
            <a:endParaRPr lang="en-SG" sz="1100"/>
          </a:p>
        </p:txBody>
      </p:sp>
    </p:spTree>
    <p:extLst>
      <p:ext uri="{BB962C8B-B14F-4D97-AF65-F5344CB8AC3E}">
        <p14:creationId xmlns:p14="http://schemas.microsoft.com/office/powerpoint/2010/main" val="105269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2901</TotalTime>
  <Words>3158</Words>
  <Application>Microsoft Office PowerPoint</Application>
  <PresentationFormat>Widescreen</PresentationFormat>
  <Paragraphs>301</Paragraphs>
  <Slides>43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Altair Data Science Contest</vt:lpstr>
      <vt:lpstr>What I Analysed?</vt:lpstr>
      <vt:lpstr>Attributes Definition</vt:lpstr>
      <vt:lpstr>Attributes Definition</vt:lpstr>
      <vt:lpstr>Attribute Definition</vt:lpstr>
      <vt:lpstr>Lets Start with EDA</vt:lpstr>
      <vt:lpstr>PowerPoint Presentation</vt:lpstr>
      <vt:lpstr>PowerPoint Presentation</vt:lpstr>
      <vt:lpstr>PowerPoint Presentation</vt:lpstr>
      <vt:lpstr>PowerPoint Presentation</vt:lpstr>
      <vt:lpstr>Adding New Attribute</vt:lpstr>
      <vt:lpstr>Dataset Summary – Student Performance</vt:lpstr>
      <vt:lpstr>Dataset Summary – Student Performance</vt:lpstr>
      <vt:lpstr>Dataset Summary – Student Performance</vt:lpstr>
      <vt:lpstr>Univariate EDA</vt:lpstr>
      <vt:lpstr>Univariate EDA</vt:lpstr>
      <vt:lpstr>Univariate EDA</vt:lpstr>
      <vt:lpstr>Univariate EDA</vt:lpstr>
      <vt:lpstr>Univariate EDA</vt:lpstr>
      <vt:lpstr>Bivariate EDA</vt:lpstr>
      <vt:lpstr>Bivariate EDA</vt:lpstr>
      <vt:lpstr>Bivariate EDA</vt:lpstr>
      <vt:lpstr>Bivariate EDA</vt:lpstr>
      <vt:lpstr>Bivariate EDA</vt:lpstr>
      <vt:lpstr>Bivariate EDA</vt:lpstr>
      <vt:lpstr>Bivariate EDA</vt:lpstr>
      <vt:lpstr>Bivariate EDA</vt:lpstr>
      <vt:lpstr>Bivariate Analysis</vt:lpstr>
      <vt:lpstr>Bivariate EDA</vt:lpstr>
      <vt:lpstr>Bivariate EDA</vt:lpstr>
      <vt:lpstr>Bivariate EDA</vt:lpstr>
      <vt:lpstr>Bivariate EDA</vt:lpstr>
      <vt:lpstr>Bivariate EDA</vt:lpstr>
      <vt:lpstr>Feature Selection</vt:lpstr>
      <vt:lpstr>Model Selection</vt:lpstr>
      <vt:lpstr>Data Preprocessing – Label Transformation</vt:lpstr>
      <vt:lpstr>Train-Test Split</vt:lpstr>
      <vt:lpstr>Logistic Regression – Model Setup</vt:lpstr>
      <vt:lpstr>Model Performance Metrics</vt:lpstr>
      <vt:lpstr>Confusion Matrix</vt:lpstr>
      <vt:lpstr>Variable Importance</vt:lpstr>
      <vt:lpstr>Interpretation &amp; Insights</vt:lpstr>
      <vt:lpstr>Conclusion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Altair Data Science Contest</dc:title>
  <dc:creator>Mithun V R</dc:creator>
  <cp:lastModifiedBy>Mithun V R</cp:lastModifiedBy>
  <cp:revision>78</cp:revision>
  <dcterms:created xsi:type="dcterms:W3CDTF">2025-09-09T15:09:31Z</dcterms:created>
  <dcterms:modified xsi:type="dcterms:W3CDTF">2025-09-11T16:08:26Z</dcterms:modified>
</cp:coreProperties>
</file>